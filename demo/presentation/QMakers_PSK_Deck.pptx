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59" r:id="rId6"/>
    <p:sldId id="260" r:id="rId7"/>
    <p:sldId id="26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2274" y="9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1076523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>
                <a:solidFill>
                  <a:srgbClr val="141B26"/>
                </a:solidFill>
                <a:latin typeface="Segoe UI"/>
              </a:rPr>
              <a:t>PSK Personalised Lobby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51460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2B6FC8"/>
                </a:solidFill>
                <a:latin typeface="Segoe UI"/>
              </a:rPr>
              <a:t>The lobby should know who is looking at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310128"/>
            <a:ext cx="8595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A game recommender that rebuilds the casino lobby around what each player actually plays.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343400"/>
            <a:ext cx="10765231" cy="127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4572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23,673 players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152" y="4572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3,202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572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741,679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9992" y="4572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a trained ranker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669280"/>
            <a:ext cx="107652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8B96A5"/>
                </a:solidFill>
                <a:latin typeface="Segoe UI"/>
              </a:rPr>
              <a:t>Team Q'Makers  ·  Bandlapalli Roshan Babu  ·  C. Kavya Sri · M. Yashwanth</a:t>
            </a:r>
          </a:p>
          <a:p>
            <a:pPr algn="l">
              <a:lnSpc>
                <a:spcPct val="118000"/>
              </a:lnSpc>
            </a:pPr>
            <a:r>
              <a:rPr sz="1300" b="0">
                <a:solidFill>
                  <a:srgbClr val="8B96A5"/>
                </a:solidFill>
                <a:latin typeface="Segoe UI"/>
              </a:rPr>
              <a:t>FEG Innovation Challenge 2026  ·  Croatian brand (PSK)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6C525C-0C43-69C8-1BB4-AD5E2B8129A7}"/>
              </a:ext>
            </a:extLst>
          </p:cNvPr>
          <p:cNvSpPr txBox="1"/>
          <p:nvPr/>
        </p:nvSpPr>
        <p:spPr>
          <a:xfrm>
            <a:off x="385011" y="1138988"/>
            <a:ext cx="1164656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/>
              <a:t>psk.hr's</a:t>
            </a:r>
            <a:r>
              <a:rPr lang="en-US" sz="2800" dirty="0"/>
              <a:t> casino lobby is static. Every player sees the same rows. The biggest one is </a:t>
            </a:r>
            <a:r>
              <a:rPr lang="en-US" sz="2800" dirty="0" err="1"/>
              <a:t>Najigranije</a:t>
            </a:r>
            <a:r>
              <a:rPr lang="en-US" sz="2800" dirty="0"/>
              <a:t> — "most played" — an identical global list for all 27,000 players.</a:t>
            </a:r>
          </a:p>
          <a:p>
            <a:endParaRPr lang="en-US" sz="2800" dirty="0"/>
          </a:p>
          <a:p>
            <a:r>
              <a:rPr lang="en-US" sz="2800" dirty="0"/>
              <a:t>The </a:t>
            </a:r>
            <a:r>
              <a:rPr lang="en-US" sz="2800" dirty="0" err="1"/>
              <a:t>behavioural</a:t>
            </a:r>
            <a:r>
              <a:rPr lang="en-US" sz="2800" dirty="0"/>
              <a:t> evidence says that matters. In the FEG event export, the single most common way a player reaches a game is typing its name into search (3,580 launches, ahead of every browsable surface). If you have to search, the lobby did not surface it.</a:t>
            </a:r>
          </a:p>
          <a:p>
            <a:endParaRPr lang="en-US" sz="2800" dirty="0"/>
          </a:p>
          <a:p>
            <a:r>
              <a:rPr lang="en-US" sz="2800" dirty="0"/>
              <a:t>And players are not narrow. In the given datasets, 74% of interactions are with games the player has never played before. They explore constantly — they just explore badly, through a search box and one global row.</a:t>
            </a:r>
            <a:endParaRPr lang="en-IN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72F128-1302-2D10-70F4-A68E787E71A3}"/>
              </a:ext>
            </a:extLst>
          </p:cNvPr>
          <p:cNvSpPr txBox="1"/>
          <p:nvPr/>
        </p:nvSpPr>
        <p:spPr>
          <a:xfrm>
            <a:off x="256674" y="79194"/>
            <a:ext cx="43190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Problem Statement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3041613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01  / 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37947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141B26"/>
                </a:solidFill>
                <a:latin typeface="Segoe UI"/>
              </a:rPr>
              <a:t>One lobby.
23,673 players.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194560"/>
            <a:ext cx="37947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75363"/>
                </a:solidFill>
                <a:latin typeface="Segoe UI"/>
              </a:rPr>
              <a:t>Two rows. Identical for everyone — whether they have played one game or three hundred.
The most common route to a game here is typing its name into search. If you have to search, the lobby didn't surface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4572000"/>
            <a:ext cx="3794760" cy="132588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2688" y="4727448"/>
            <a:ext cx="33558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C03932"/>
                </a:solidFill>
                <a:latin typeface="Segoe UI"/>
              </a:rPr>
              <a:t>32 of 3,202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358384"/>
            <a:ext cx="3355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games the top row can ever reach — about 1% of the library</a:t>
            </a:r>
          </a:p>
        </p:txBody>
      </p:sp>
      <p:pic>
        <p:nvPicPr>
          <p:cNvPr id="8" name="Picture 7" descr="01-anonymous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914400"/>
            <a:ext cx="7315200" cy="4392202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01 /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27652"/>
                </a:solidFill>
                <a:latin typeface="Consolas"/>
              </a:rPr>
              <a:t>02  / 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37947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141B26"/>
                </a:solidFill>
                <a:latin typeface="Segoe UI"/>
              </a:rPr>
              <a:t>Sign in.
Same page.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194560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75363"/>
                </a:solidFill>
                <a:latin typeface="Segoe UI"/>
              </a:rPr>
              <a:t>Two rows become six, built from that player's own history by the trained ranker.
Nothing was removed. Popular is still there, unchanged — and that turns out to matter.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4526280"/>
            <a:ext cx="3794760" cy="1280160"/>
          </a:xfrm>
          <a:prstGeom prst="rect">
            <a:avLst/>
          </a:prstGeom>
          <a:solidFill>
            <a:srgbClr val="F3F6FA"/>
          </a:solidFill>
          <a:ln w="17780">
            <a:solidFill>
              <a:srgbClr val="12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700016"/>
            <a:ext cx="33832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Every tile says why. </a:t>
            </a:r>
            <a:r>
              <a:rPr sz="1250" b="0">
                <a:solidFill>
                  <a:srgbClr val="475363"/>
                </a:solidFill>
                <a:latin typeface="Segoe UI"/>
              </a:rPr>
              <a:t>The reason is the model's own largest term — not a generated sentence.</a:t>
            </a:r>
          </a:p>
        </p:txBody>
      </p:sp>
      <p:pic>
        <p:nvPicPr>
          <p:cNvPr id="7" name="Picture 6" descr="02-signed-in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914400"/>
            <a:ext cx="7315200" cy="4392202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02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03  / 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Every tile carries the reason it is there.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Not a generated rationale — the single feature with the largest weight × value in the model's own score. A test proves the attribution reconstructs the probability exactly, so /explain can be trusted in an audit.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3-why-this-game.png"/>
          <p:cNvPicPr>
            <a:picLocks noChangeAspect="1"/>
          </p:cNvPicPr>
          <p:nvPr/>
        </p:nvPicPr>
        <p:blipFill>
          <a:blip r:embed="rId2"/>
          <a:srcRect t="30000" r="36000" b="10000"/>
          <a:stretch>
            <a:fillRect/>
          </a:stretch>
        </p:blipFill>
        <p:spPr>
          <a:xfrm>
            <a:off x="713232" y="2279599"/>
            <a:ext cx="6172200" cy="3474300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205472" y="2412187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0" y="2334463"/>
            <a:ext cx="4071823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EU AI Act 2024/1689. </a:t>
            </a:r>
            <a:r>
              <a:rPr sz="1250" b="0">
                <a:solidFill>
                  <a:srgbClr val="475363"/>
                </a:solidFill>
                <a:latin typeface="Segoe UI"/>
              </a:rPr>
              <a:t>Explainability met by construction, not by a report written afterwards.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5472" y="3008071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06640" y="2930347"/>
            <a:ext cx="4071823" cy="674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Dimmed, dashed tiles </a:t>
            </a:r>
            <a:r>
              <a:rPr sz="1250" b="0">
                <a:solidFill>
                  <a:srgbClr val="475363"/>
                </a:solidFill>
                <a:latin typeface="Segoe UI"/>
              </a:rPr>
              <a:t>are games whose title is not in the data. They appear only in your own history — never as a recommendation.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5472" y="382874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6640" y="3751020"/>
            <a:ext cx="4071823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No stake suggestion exists </a:t>
            </a:r>
            <a:r>
              <a:rPr sz="1250" b="0">
                <a:solidFill>
                  <a:srgbClr val="475363"/>
                </a:solidFill>
                <a:latin typeface="Segoe UI"/>
              </a:rPr>
              <a:t>anywhere in the codebase. The system recommends games, never amounts.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5472" y="4424628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4346904"/>
            <a:ext cx="4071823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No dark patterns. </a:t>
            </a:r>
            <a:r>
              <a:rPr sz="1250" b="0">
                <a:solidFill>
                  <a:srgbClr val="475363"/>
                </a:solidFill>
                <a:latin typeface="Segoe UI"/>
              </a:rPr>
              <a:t>No countdowns, no scarcity, no “others are playing”, no near-miss framing.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03 /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107652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6FA8E8"/>
                </a:solidFill>
                <a:latin typeface="Consolas"/>
              </a:rPr>
              <a:t>LIVE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83080"/>
            <a:ext cx="8686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Watch two rows become six.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3154680"/>
            <a:ext cx="102165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The anonymous lobby — what all 23,673 players see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58444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3584448"/>
            <a:ext cx="102165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Sign in as ana.k — the same page rebuilds into six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142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4014216"/>
            <a:ext cx="102165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Read a tile out loud — that is the model's own top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44398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443984"/>
            <a:ext cx="102165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davor.z — sign-in REFUSED. Age unverified; the check precedes 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8737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73752"/>
            <a:ext cx="102165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lucija.h — signs in, zero rows. Self-exclusion blocks inducements, not account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126480"/>
            <a:ext cx="10765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28FA0"/>
                </a:solidFill>
                <a:latin typeface="Segoe UI"/>
              </a:rPr>
              <a:t>12 demo accounts, generated from real player histories in the model. ~25 ms per lobby, and no network on the request path.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455E4B0-6AF9-CC57-F6EE-C93225FAC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872020"/>
              </p:ext>
            </p:extLst>
          </p:nvPr>
        </p:nvGraphicFramePr>
        <p:xfrm>
          <a:off x="5229726" y="1085249"/>
          <a:ext cx="6657474" cy="26997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3978">
                  <a:extLst>
                    <a:ext uri="{9D8B030D-6E8A-4147-A177-3AD203B41FA5}">
                      <a16:colId xmlns:a16="http://schemas.microsoft.com/office/drawing/2014/main" val="2140673545"/>
                    </a:ext>
                  </a:extLst>
                </a:gridCol>
                <a:gridCol w="5693496">
                  <a:extLst>
                    <a:ext uri="{9D8B030D-6E8A-4147-A177-3AD203B41FA5}">
                      <a16:colId xmlns:a16="http://schemas.microsoft.com/office/drawing/2014/main" val="1949583157"/>
                    </a:ext>
                  </a:extLst>
                </a:gridCol>
              </a:tblGrid>
              <a:tr h="5130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u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 dirty="0">
                          <a:effectLst/>
                        </a:rPr>
                        <a:t>one player; U = the cohort (5,921 for your tail task)</a:t>
                      </a:r>
                      <a:endParaRPr lang="en-IN" sz="2000" b="0" i="0" dirty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671575469"/>
                  </a:ext>
                </a:extLst>
              </a:tr>
              <a:tr h="5130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i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position in the row, 1-indexed — 1 is the leftmost tile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59791025"/>
                  </a:ext>
                </a:extLst>
              </a:tr>
              <a:tr h="5130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k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how many tiles you score, 10 here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2383332"/>
                  </a:ext>
                </a:extLst>
              </a:tr>
              <a:tr h="5130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rel(u, i)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relevance of the item at position i: 1 if player u played it in the test week, else 0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663077849"/>
                  </a:ext>
                </a:extLst>
              </a:tr>
              <a:tr h="5130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>
                          <a:effectLst/>
                        </a:rPr>
                        <a:t>Rᵤ</a:t>
                      </a:r>
                      <a:endParaRPr lang="en-IN" sz="2000" b="0" i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 dirty="0">
                          <a:effectLst/>
                        </a:rPr>
                        <a:t>that player's set of truths; |Rᵤ| ≈ 7.1 on average</a:t>
                      </a:r>
                      <a:endParaRPr lang="en-IN" sz="2000" b="0" i="0" dirty="0">
                        <a:solidFill>
                          <a:srgbClr val="CCCCCC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15207237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3283371-A3DA-0B3D-75AB-8DBFF465B44C}"/>
                  </a:ext>
                </a:extLst>
              </p:cNvPr>
              <p:cNvSpPr txBox="1"/>
              <p:nvPr/>
            </p:nvSpPr>
            <p:spPr>
              <a:xfrm>
                <a:off x="585537" y="1282639"/>
                <a:ext cx="6097712" cy="51090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			   k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DCG@k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(u)  =  </a:t>
                </a:r>
                <a14:m>
                  <m:oMath xmlns:m="http://schemas.openxmlformats.org/officeDocument/2006/math">
                    <m:r>
                      <a:rPr lang="en-IN" sz="1800" b="0" i="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𝛴</m:t>
                    </m:r>
                    <m:r>
                      <a:rPr lang="en-IN" sz="1800" b="0" i="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𝑟𝑒𝑙</m:t>
                    </m:r>
                    <m:d>
                      <m:dPr>
                        <m:ctrlP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/</m:t>
                    </m:r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₂</m:t>
                    </m:r>
                    <m:d>
                      <m:dPr>
                        <m:ctrlP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          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dirty="0"/>
                  <a:t>			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i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=1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endParaRPr lang="en-IN" sz="1800" b="0" i="0" dirty="0">
                  <a:solidFill>
                    <a:schemeClr val="tx1"/>
                  </a:solidFill>
                  <a:effectLst/>
                  <a:latin typeface="+mn-lt"/>
                </a:endParaRP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            		min(|Rᵤ|, k)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IDCG@k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(u) =  </a:t>
                </a:r>
                <a14:m>
                  <m:oMath xmlns:m="http://schemas.openxmlformats.org/officeDocument/2006/math">
                    <m:r>
                      <a:rPr lang="en-IN" sz="1800" b="0" i="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𝛴</m:t>
                    </m:r>
                    <m:r>
                      <a:rPr lang="en-IN" sz="1800" b="0" i="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1/</m:t>
                    </m:r>
                    <m:r>
                      <a:rPr lang="en-IN" sz="1800" b="0" i="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IN" sz="1800" b="0" i="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₂</m:t>
                    </m:r>
                    <m:d>
                      <m:dPr>
                        <m:ctrlPr>
                          <a:rPr lang="en-IN" sz="1800" b="0" i="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1800" b="0" i="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IN" sz="1800" b="0" i="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        		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i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=1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endParaRPr lang="en-IN" sz="1800" b="0" i="0" dirty="0">
                  <a:solidFill>
                    <a:schemeClr val="tx1"/>
                  </a:solidFill>
                  <a:effectLst/>
                  <a:latin typeface="+mn-lt"/>
                </a:endParaRP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NDCG@k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(u) = 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DCG@k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(u) /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IDCG@k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(u)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endParaRPr lang="en-IN" sz="1800" b="0" i="0" dirty="0">
                  <a:solidFill>
                    <a:schemeClr val="tx1"/>
                  </a:solidFill>
                  <a:effectLst/>
                  <a:latin typeface="+mn-lt"/>
                </a:endParaRP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NDCG@k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=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1/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IN" sz="1800" b="0" i="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1800" b="0" i="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e>
                    </m:d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·</m:t>
                    </m:r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𝛴</m:t>
                    </m:r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800" b="0" i="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𝐷𝐶𝐺</m:t>
                    </m:r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@</m:t>
                    </m:r>
                    <m:r>
                      <a:rPr lang="en-IN" sz="1800" b="0" i="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1800" b="0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                           </a:t>
                </a:r>
              </a:p>
              <a:p>
                <a:pPr marL="0" marR="0" indent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lang="en-IN" dirty="0"/>
                  <a:t>					</a:t>
                </a:r>
                <a:r>
                  <a:rPr lang="en-IN" sz="1800" b="0" i="0" dirty="0">
                    <a:solidFill>
                      <a:schemeClr val="tx1"/>
                    </a:solidFill>
                    <a:effectLst/>
                    <a:latin typeface="+mn-lt"/>
                  </a:rPr>
                  <a:t> </a:t>
                </a:r>
                <a:r>
                  <a:rPr lang="en-IN" sz="1800" b="0" i="0" dirty="0" err="1">
                    <a:solidFill>
                      <a:schemeClr val="tx1"/>
                    </a:solidFill>
                    <a:effectLst/>
                    <a:latin typeface="+mn-lt"/>
                  </a:rPr>
                  <a:t>u∈U</a:t>
                </a:r>
                <a:endParaRPr lang="en-IN" sz="1800" b="0" i="0" dirty="0">
                  <a:solidFill>
                    <a:schemeClr val="tx1"/>
                  </a:solidFill>
                  <a:effectLst/>
                  <a:latin typeface="+mn-lt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3283371-A3DA-0B3D-75AB-8DBFF465B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537" y="1282639"/>
                <a:ext cx="6097712" cy="5109091"/>
              </a:xfrm>
              <a:prstGeom prst="rect">
                <a:avLst/>
              </a:prstGeom>
              <a:blipFill>
                <a:blip r:embed="rId2"/>
                <a:stretch>
                  <a:fillRect t="-596" b="-83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49ACC54-D1F9-336E-C8DF-FEDEE0D3ECAB}"/>
              </a:ext>
            </a:extLst>
          </p:cNvPr>
          <p:cNvSpPr txBox="1"/>
          <p:nvPr/>
        </p:nvSpPr>
        <p:spPr>
          <a:xfrm>
            <a:off x="5510463" y="4014156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DCG  = 1/log₂2 + 1/log₂5 + 1/log₂10</a:t>
            </a:r>
          </a:p>
          <a:p>
            <a:pPr marL="0" marR="0" indent="0" algn="l">
              <a:buNone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    	 = 1.0000  + 0.4307  + 0.3010     = 1.7317</a:t>
            </a:r>
          </a:p>
          <a:p>
            <a:pPr marL="0" marR="0" indent="0" algn="l">
              <a:buNone/>
            </a:pPr>
            <a:endParaRPr lang="en-I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IDCG = 1/log₂2 + 1/log₂3 + 1/log₂4</a:t>
            </a:r>
          </a:p>
          <a:p>
            <a:pPr marL="0" marR="0" indent="0" algn="l">
              <a:buNone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          = 1.0000  + 0.6309  + 0.5000     = 2.1309</a:t>
            </a:r>
          </a:p>
          <a:p>
            <a:pPr marL="0" marR="0" indent="0" algn="l">
              <a:buNone/>
            </a:pPr>
            <a:endParaRPr lang="en-I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NDCG = 1.7317 / 2.1309                </a:t>
            </a:r>
          </a:p>
          <a:p>
            <a:pPr marL="0" marR="0" indent="0" algn="l">
              <a:buNone/>
            </a:pPr>
            <a:r>
              <a:rPr lang="en-IN" dirty="0"/>
              <a:t>	   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= 0.8127</a:t>
            </a:r>
            <a:endParaRPr lang="en-IN" sz="975" b="0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226661-F586-6750-3878-3C44F54647F1}"/>
              </a:ext>
            </a:extLst>
          </p:cNvPr>
          <p:cNvSpPr txBox="1"/>
          <p:nvPr/>
        </p:nvSpPr>
        <p:spPr>
          <a:xfrm>
            <a:off x="585537" y="173882"/>
            <a:ext cx="38317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/>
              <a:t>Formulation of NDCG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677376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C03932"/>
                </a:solidFill>
                <a:latin typeface="Consolas"/>
              </a:rPr>
              <a:t>04  /  THE FINDING WE DIDN'T WANT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Our recommender lost.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On predicting the next game a player tries, collaborative filtering was beaten outright by the popularity row PSK already ships.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2416759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most_played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9192" y="2435047"/>
            <a:ext cx="2926080" cy="201168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96712" y="2407615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Consolas"/>
              </a:rPr>
              <a:t>0.2110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37383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provider_popular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2855671"/>
            <a:ext cx="1871181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41813" y="2828239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0.1350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258007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item-item CF (ours)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3276295"/>
            <a:ext cx="677811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48443" y="3248863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0.0489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706063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NDCG@10  ·  discovery task  ·  9,102 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316175"/>
            <a:ext cx="4547311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475363"/>
                </a:solidFill>
                <a:latin typeface="Segoe UI"/>
              </a:rPr>
              <a:t>What players try next is overwhelmingly what is already popular. Correlation between a game's popularity and its next-week discovery count is 0.79, and one title takes 13% of all discovery plays on its own.
We swept popularity correction, shrinkage, </a:t>
            </a:r>
            <a:r>
              <a:rPr sz="1300" b="0" dirty="0" err="1">
                <a:solidFill>
                  <a:srgbClr val="475363"/>
                </a:solidFill>
                <a:latin typeface="Segoe UI"/>
              </a:rPr>
              <a:t>neighbourhood</a:t>
            </a:r>
            <a:r>
              <a:rPr sz="1300" b="0" dirty="0">
                <a:solidFill>
                  <a:srgbClr val="475363"/>
                </a:solidFill>
                <a:latin typeface="Segoe UI"/>
              </a:rPr>
              <a:t> size and eight blend weights before accepting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318711"/>
            <a:ext cx="10765231" cy="777240"/>
          </a:xfrm>
          <a:prstGeom prst="rect">
            <a:avLst/>
          </a:prstGeom>
          <a:solidFill>
            <a:srgbClr val="F3F6FA"/>
          </a:solidFill>
          <a:ln w="1778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4510735"/>
            <a:ext cx="1028974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41B26"/>
                </a:solidFill>
                <a:latin typeface="Segoe UI"/>
              </a:rPr>
              <a:t>So we kept the popularity row. </a:t>
            </a:r>
            <a:r>
              <a:rPr sz="1400" b="0">
                <a:solidFill>
                  <a:srgbClr val="475363"/>
                </a:solidFill>
                <a:latin typeface="Segoe UI"/>
              </a:rPr>
              <a:t>Replacing it would have made the lobby worse — which is why Popular is still on the screen you just saw.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04 /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27652"/>
                </a:solidFill>
                <a:latin typeface="Consolas"/>
              </a:rPr>
              <a:t>05  /  THE RESULT THAT JUSTIFIES THE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But popularity only knows 29 games.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Remove the global top-50 and it reverses. This is the tail — where 76.5% of all discovery already happens.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25803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2147011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Trained ranker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9192" y="2165299"/>
            <a:ext cx="2926080" cy="201168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96712" y="2137867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Consolas"/>
              </a:rPr>
              <a:t>0.0708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567635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Blend (seq + CF)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2585923"/>
            <a:ext cx="2708876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79508" y="2558491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0.0655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88259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Sequence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3006547"/>
            <a:ext cx="2683063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53695" y="2979115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0.0649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408883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Item-item CF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3427171"/>
            <a:ext cx="2025024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95656" y="3399739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29507"/>
            <a:ext cx="1856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most_played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2" y="3847795"/>
            <a:ext cx="684106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54738" y="3820363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0.0165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231843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NDCG@10  ·  tail discovery  ·  5,921 players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31152" y="2046427"/>
            <a:ext cx="2173071" cy="11430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0608" y="2201875"/>
            <a:ext cx="173415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4.28×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832811"/>
            <a:ext cx="17341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better than the row that ships today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05391" y="2046427"/>
            <a:ext cx="2173071" cy="11430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24847" y="2201875"/>
            <a:ext cx="1734159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25×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4847" y="2832811"/>
            <a:ext cx="17341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the catalogue — 732 games, not 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3363163"/>
            <a:ext cx="4547311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Popularity owns the head. We own the tail.
The recommender is additive — nothing that already worked was removed, so the downside is bounded at screen space, and every row ships behind its own feature flag.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05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06  / 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Two stages: propose, then re-rank.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Cheap models generate candidates; a trained model orders them. The second stage is what beats the blend — and it is also what makes every tile explainable.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323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2435047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Item-item CF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36799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Cosine over 23,673 × 3,202, shrinkage, and a popularity correction applied to the similarity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54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2114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67446" y="2435047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Day-to-day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7446" y="2736799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Row-normalised transitions over 1.4M ordered pairs, with recency-decayed profiles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045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905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75356" y="2435047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~200 candidates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5356" y="2736799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The union per player, with everything already played removed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836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36962" y="2279599"/>
            <a:ext cx="1933590" cy="1371600"/>
          </a:xfrm>
          <a:prstGeom prst="rect">
            <a:avLst/>
          </a:prstGeom>
          <a:noFill/>
          <a:ln w="20320">
            <a:solidFill>
              <a:srgbClr val="12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36962" y="2279599"/>
            <a:ext cx="1933590" cy="45720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3266" y="2435047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Segoe UI"/>
              </a:rPr>
              <a:t>Trained re-ranker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3266" y="2736799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LogisticRegression · 14 features · ~200k labelled rows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1627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544872" y="2279599"/>
            <a:ext cx="1933590" cy="1371600"/>
          </a:xfrm>
          <a:prstGeom prst="rect">
            <a:avLst/>
          </a:prstGeom>
          <a:noFill/>
          <a:ln w="2032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544872" y="2279599"/>
            <a:ext cx="1933590" cy="45720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1176" y="2435047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2B6FC8"/>
                </a:solidFill>
                <a:latin typeface="Segoe UI"/>
              </a:rPr>
              <a:t>Score → reason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1176" y="2736799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Each score decomposes into weight × value; the largest term is the sentence on the tile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4030675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3952951"/>
            <a:ext cx="10564063" cy="647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The features. </a:t>
            </a:r>
            <a:r>
              <a:rPr sz="1200" b="0">
                <a:solidFill>
                  <a:srgbClr val="475363"/>
                </a:solidFill>
                <a:latin typeface="Segoe UI"/>
              </a:rPr>
              <a:t>CF score, sequence score, popularity, provider affinity and recency, type affinity, stake momentum, release age, is-new, jackpot, payout ratio, and three player-level terms. Payout ratio is a similarity feature only — never ranked on, never shown, because advertising “this game pays more” is the inducement the AI Act prohibits.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482437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4746650"/>
            <a:ext cx="10564063" cy="431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The name bridge. </a:t>
            </a:r>
            <a:r>
              <a:rPr sz="1200" b="0">
                <a:solidFill>
                  <a:srgbClr val="475363"/>
                </a:solidFill>
                <a:latin typeface="Segoe UI"/>
              </a:rPr>
              <a:t>2,723 game codes carried no title at all. Co-occurrence on (player, day), constrained to matching providers, recovered 180 of them — 37% of all stake. It independently derived that gpas_3chken_pop is “4 Crazy Cluckers”, from a slug it cannot read.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0227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324550"/>
            <a:ext cx="10564063" cy="431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Measured honestly. </a:t>
            </a:r>
            <a:r>
              <a:rPr sz="1200" b="0">
                <a:solidFill>
                  <a:srgbClr val="475363"/>
                </a:solidFill>
                <a:latin typeface="Segoe UI"/>
              </a:rPr>
              <a:t>Three-way temporal split — hyperparameters chosen on a validation week, never the test week. Gradient boosting won a player-split validation and then lost the temporal test: exactly the overfitting you cannot see if you only split by user.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06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07  /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Additive middleware on FEG's own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One stateless service reading precomputed artifacts. No GPU, no model API, and no new instrumentation — it reads the warehouse table CA_Player is already exported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323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2471623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CA_Player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73375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The export FEG already produces. Daily batch, no new tracking required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54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2114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67446" y="2471623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7446" y="2773375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Clean, name-bridge, features, three-way split. Seconds on one core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045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905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75356" y="2471623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artifacts/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5356" y="2773375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18 MB — similarity, sequence, catalogue, ranker. Object storage or the image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836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36962" y="2316175"/>
            <a:ext cx="1933590" cy="1371600"/>
          </a:xfrm>
          <a:prstGeom prst="rect">
            <a:avLst/>
          </a:prstGeom>
          <a:noFill/>
          <a:ln w="2032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36962" y="2316175"/>
            <a:ext cx="1933590" cy="45720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3266" y="2471623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2B6FC8"/>
                </a:solidFill>
                <a:latin typeface="Segoe UI"/>
              </a:rPr>
              <a:t>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3266" y="2773375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Python or Java, stateless, horizontally scaled. ~25 ms, no I/O on the request path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1627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54487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91176" y="2471623"/>
            <a:ext cx="164098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Vue 3 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1176" y="2773375"/>
            <a:ext cx="164098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One component, one JSON contract. Render the rows you recognise, ignore the 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998671"/>
            <a:ext cx="10765231" cy="685800"/>
          </a:xfrm>
          <a:prstGeom prst="rect">
            <a:avLst/>
          </a:prstGeom>
          <a:noFill/>
          <a:ln w="20320">
            <a:solidFill>
              <a:srgbClr val="C03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4172407"/>
            <a:ext cx="103263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03932"/>
                </a:solidFill>
                <a:latin typeface="Segoe UI"/>
              </a:rPr>
              <a:t>The responsible-play gate sits inside the service, before scoring — </a:t>
            </a:r>
            <a:r>
              <a:rPr sz="1300" b="0">
                <a:solidFill>
                  <a:srgbClr val="475363"/>
                </a:solidFill>
                <a:latin typeface="Segoe UI"/>
              </a:rPr>
              <a:t>not in the client, and not behind a flag anyone can switch off.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867351"/>
            <a:ext cx="1076523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B26"/>
                </a:solidFill>
                <a:latin typeface="Segoe UI"/>
              </a:rPr>
              <a:t>What FEG actually builds: </a:t>
            </a:r>
            <a:r>
              <a:rPr sz="1300" b="0">
                <a:solidFill>
                  <a:srgbClr val="475363"/>
                </a:solidFill>
                <a:latin typeface="Segoe UI"/>
              </a:rPr>
              <a:t>a Vue row component (3–4 days), a daily batch job (1 day), and a service deployment (2–3 days). Redis and Kafka are only needed below a daily cadence, so neither is on the critical path. Everything else in the repository is done.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07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C03932"/>
                </a:solidFill>
                <a:latin typeface="Consolas"/>
              </a:rPr>
              <a:t>08  /  COMPLIANCE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03504"/>
            <a:ext cx="5532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41B26"/>
                </a:solidFill>
                <a:latin typeface="Segoe UI"/>
              </a:rPr>
              <a:t>The gate runs before the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7008"/>
            <a:ext cx="5532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Two gates, firing at different points, because the law treats them differently. Both directions are asserted in tests — getting either backwards would be a real compliance failure.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2395728"/>
          <a:ext cx="5532119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6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5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475363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09728" marR="109728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475363"/>
                          </a:solidFill>
                          <a:latin typeface="Segoe UI"/>
                        </a:rPr>
                        <a:t>Where it fires</a:t>
                      </a:r>
                    </a:p>
                  </a:txBody>
                  <a:tcPr marL="109728" marR="109728" anchor="ctr"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03932"/>
                          </a:solidFill>
                          <a:latin typeface="Segoe UI"/>
                        </a:rPr>
                        <a:t>Age / ID unverified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B26"/>
                          </a:solidFill>
                          <a:latin typeface="Segoe UI"/>
                        </a:rPr>
                        <a:t>At sign-in — refused, no session issued at all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03932"/>
                          </a:solidFill>
                          <a:latin typeface="Segoe UI"/>
                        </a:rPr>
                        <a:t>Self-excluded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41B26"/>
                          </a:solidFill>
                          <a:latin typeface="Segoe UI"/>
                        </a:rPr>
                        <a:t>After sign-in — the account opens, the lobby returns zero rows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4224528"/>
            <a:ext cx="5532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Self-exclusion blocks inducements, not account access. </a:t>
            </a:r>
            <a:r>
              <a:rPr sz="1250" b="0">
                <a:solidFill>
                  <a:srgbClr val="475363"/>
                </a:solidFill>
                <a:latin typeface="Segoe UI"/>
              </a:rPr>
              <a:t>The person must still reach their account and support — so they sign in, and get zero recommendations plus the required surfaces. Not filtered afterwards. Never scored.</a:t>
            </a:r>
          </a:p>
        </p:txBody>
      </p:sp>
      <p:pic>
        <p:nvPicPr>
          <p:cNvPr id="7" name="Picture 6" descr="05-self-excluded-zero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051560"/>
            <a:ext cx="5532120" cy="3321603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656832" y="45262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the self-excluded account, signed in — zero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08 /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B87D0A"/>
                </a:solidFill>
                <a:latin typeface="Consolas"/>
              </a:rPr>
              <a:t>09  / 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€19.6M a fortnight rides on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13.7% of all stake sits on games a player was trying for the first time — 138,041 first-time adoptions, median €16.16. That entire flow is served today by a search box.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3232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2489911"/>
            <a:ext cx="299100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>
                <a:solidFill>
                  <a:srgbClr val="B87D0A"/>
                </a:solidFill>
                <a:latin typeface="Segoe UI"/>
              </a:rPr>
              <a:t>€19.6M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120847"/>
            <a:ext cx="29910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on first-time game plays every fortnight — a seventh of all stake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0890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00346" y="2334463"/>
            <a:ext cx="299100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dirty="0">
                <a:solidFill>
                  <a:srgbClr val="B87D0A"/>
                </a:solidFill>
                <a:latin typeface="Segoe UI"/>
              </a:rPr>
              <a:t>€17.00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346" y="2937967"/>
            <a:ext cx="29910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dirty="0">
                <a:solidFill>
                  <a:srgbClr val="475363"/>
                </a:solidFill>
                <a:latin typeface="Segoe UI"/>
              </a:rPr>
              <a:t>median stake on a newly-adopted tail game, against €10.50 on a top-50 game. The tail is not the cheap 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8548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68004" y="2372911"/>
            <a:ext cx="299100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 dirty="0">
                <a:solidFill>
                  <a:srgbClr val="C03932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1429" y="2939839"/>
            <a:ext cx="29910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dirty="0">
                <a:solidFill>
                  <a:srgbClr val="475363"/>
                </a:solidFill>
                <a:latin typeface="Segoe UI"/>
              </a:rPr>
              <a:t>revenue-uplift numbers we are willing to claim. We tested it three ways and it did not survive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742639"/>
            <a:ext cx="10765231" cy="1600200"/>
          </a:xfrm>
          <a:prstGeom prst="rect">
            <a:avLst/>
          </a:prstGeom>
          <a:solidFill>
            <a:srgbClr val="F3F6FA"/>
          </a:solidFill>
          <a:ln w="1778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3943807"/>
            <a:ext cx="10253167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Matched on activity, adopters retain no better and stake less the next week. </a:t>
            </a:r>
            <a:r>
              <a:rPr sz="1250" b="0">
                <a:solidFill>
                  <a:srgbClr val="475363"/>
                </a:solidFill>
                <a:latin typeface="Segoe UI"/>
              </a:rPr>
              <a:t>So we make no revenue claim. What we argue instead: exploration correlates with lower value </a:t>
            </a:r>
            <a:r>
              <a:rPr sz="1250" b="1">
                <a:solidFill>
                  <a:srgbClr val="141B26"/>
                </a:solidFill>
                <a:latin typeface="Segoe UI"/>
              </a:rPr>
              <a:t>because exploration currently fails</a:t>
            </a:r>
            <a:r>
              <a:rPr sz="1250" b="0">
                <a:solidFill>
                  <a:srgbClr val="475363"/>
                </a:solidFill>
                <a:latin typeface="Segoe UI"/>
              </a:rPr>
              <a:t> — players hunt and don't find. The job is not more exploration; it is making the exploration they already do succeed.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The experiment that settles it: A/B on the lobby, primary metric = first-time adoptions replayed within 7 days. That separates “found something good” from “tried and bounced”.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09 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10  /  THE ONE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58% of stake is on games we cannot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Opaque codes like pop_9f571b7a_egtfeg. They train the model — their co-occurrence is real signal — but they can never be recommended, because a player cannot know what they are being offered.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3232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2489911"/>
            <a:ext cx="299100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C03932"/>
                </a:solidFill>
                <a:latin typeface="Segoe UI"/>
              </a:rPr>
              <a:t>58%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120847"/>
            <a:ext cx="29910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of all stake, still on games with no title we can show a player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0890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07300" y="2291943"/>
            <a:ext cx="299100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 dirty="0">
                <a:solidFill>
                  <a:srgbClr val="127652"/>
                </a:solidFill>
                <a:latin typeface="Segoe UI"/>
              </a:rPr>
              <a:t>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300" y="2917777"/>
            <a:ext cx="29910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dirty="0">
                <a:solidFill>
                  <a:srgbClr val="475363"/>
                </a:solidFill>
                <a:latin typeface="Segoe UI"/>
              </a:rPr>
              <a:t>codes our name bridge already recovered from </a:t>
            </a:r>
            <a:r>
              <a:rPr sz="1150" b="0" dirty="0" err="1">
                <a:solidFill>
                  <a:srgbClr val="475363"/>
                </a:solidFill>
                <a:latin typeface="Segoe UI"/>
              </a:rPr>
              <a:t>behaviour</a:t>
            </a:r>
            <a:r>
              <a:rPr sz="1150" b="0" dirty="0">
                <a:solidFill>
                  <a:srgbClr val="475363"/>
                </a:solidFill>
                <a:latin typeface="Segoe UI"/>
              </a:rPr>
              <a:t> alone — 37% of stake, catalogue up to 479 games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8548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13141" y="2376983"/>
            <a:ext cx="299100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 dirty="0">
                <a:solidFill>
                  <a:srgbClr val="2B6FC8"/>
                </a:solidFill>
                <a:latin typeface="Segoe UI"/>
              </a:rPr>
              <a:t>~9×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8004" y="3120847"/>
            <a:ext cx="29910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the addressable inventory, if FEG shares a game catalogue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770071"/>
            <a:ext cx="10765231" cy="960120"/>
          </a:xfrm>
          <a:prstGeom prst="rect">
            <a:avLst/>
          </a:prstGeom>
          <a:solidFill>
            <a:srgbClr val="111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3971239"/>
            <a:ext cx="1021659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A game catalogue — code → title, category, thumbnail. </a:t>
            </a:r>
            <a:r>
              <a:rPr sz="1400" b="0">
                <a:solidFill>
                  <a:srgbClr val="C9D3E0"/>
                </a:solidFill>
                <a:latin typeface="Segoe UI"/>
              </a:rPr>
              <a:t>It costs FEG a database export. It is the single highest-value thing we could be given, and the only limit here we cannot engineer around.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10 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CD16B6-32C5-3286-128B-3D1C019CD000}"/>
              </a:ext>
            </a:extLst>
          </p:cNvPr>
          <p:cNvSpPr txBox="1"/>
          <p:nvPr/>
        </p:nvSpPr>
        <p:spPr>
          <a:xfrm>
            <a:off x="986971" y="5123542"/>
            <a:ext cx="664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data extraction is proper and </a:t>
            </a:r>
            <a:r>
              <a:rPr lang="en-US" dirty="0" err="1"/>
              <a:t>clear,the</a:t>
            </a:r>
            <a:r>
              <a:rPr lang="en-US" dirty="0"/>
              <a:t> same model and approach can be developed for all the games w.r.t users</a:t>
            </a:r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11  /  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The lobby should know who is looking at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Today it doesn't. We measured what personalisation can and cannot do here, kept the row that already worked, and added the 732 games it could never reach.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13232" y="2316175"/>
            <a:ext cx="5208879" cy="224028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0976" y="2480767"/>
            <a:ext cx="4733391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127652"/>
                </a:solidFill>
                <a:latin typeface="Segoe UI"/>
              </a:rPr>
              <a:t>Shipped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Pipeline → model → API → lobby, end to end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A real login journey, 12 accounts from real histories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~25 ms per lobby. No GPU, no model fit at request time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54 tests, green on a clean clone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Eight documents — including the evaluation with the loss in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9583" y="2316175"/>
            <a:ext cx="5208879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07327" y="2480767"/>
            <a:ext cx="4733391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B87D0A"/>
                </a:solidFill>
                <a:latin typeface="Segoe UI"/>
              </a:rPr>
              <a:t>Not built — and we say so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Vue SDK yet — the dashboard is plain HTML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Kafka/Redis — the pipeline is a daily batch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Prototype auth: hashed and signed, but no rate limiting or MFA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session-level sequence model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online experiment — every number here is offline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48479"/>
            <a:ext cx="10765231" cy="127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4913071"/>
            <a:ext cx="107652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8B96A5"/>
                </a:solidFill>
                <a:latin typeface="Consolas"/>
              </a:rPr>
              <a:t>Team Q'Makers  ·  feg-hackathon-2026-QMakers  ·  FEG Innovation Challenge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11 /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2353</Words>
  <Application>Microsoft Office PowerPoint</Application>
  <PresentationFormat>Widescreen</PresentationFormat>
  <Paragraphs>208</Paragraphs>
  <Slides>15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-apple-system</vt:lpstr>
      <vt:lpstr>Arial</vt:lpstr>
      <vt:lpstr>Calibri</vt:lpstr>
      <vt:lpstr>Cambria Math</vt:lpstr>
      <vt:lpstr>Consolas</vt:lpstr>
      <vt:lpstr>Courier New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Bandlapalli Roshan Babu</cp:lastModifiedBy>
  <cp:revision>2</cp:revision>
  <dcterms:created xsi:type="dcterms:W3CDTF">2013-01-27T09:14:16Z</dcterms:created>
  <dcterms:modified xsi:type="dcterms:W3CDTF">2026-09-09T05:19:13Z</dcterms:modified>
  <cp:category/>
</cp:coreProperties>
</file>