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417320"/>
            <a:ext cx="1076523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5200" b="1">
                <a:solidFill>
                  <a:srgbClr val="141B26"/>
                </a:solidFill>
                <a:latin typeface="Segoe UI"/>
              </a:rPr>
              <a:t>PSK Personalised Lobby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514600"/>
            <a:ext cx="8229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2B6FC8"/>
                </a:solidFill>
                <a:latin typeface="Segoe UI"/>
              </a:rPr>
              <a:t>The lobby should know who is looking at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310128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A game recommender that rebuilds the casino lobby around what each player actually plays.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343400"/>
            <a:ext cx="10765231" cy="127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45720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23,673 players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2152" y="45720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3,202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1072" y="45720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741,679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79992" y="45720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75363"/>
                </a:solidFill>
                <a:latin typeface="Consolas"/>
              </a:rPr>
              <a:t>a trained ranker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669280"/>
            <a:ext cx="1076523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8B96A5"/>
                </a:solidFill>
                <a:latin typeface="Segoe UI"/>
              </a:rPr>
              <a:t>Team Q'Makers  ·  Bandlapalli Roshan Babu  ·  C. Kavya Sri · M. Yashwanth</a:t>
            </a:r>
          </a:p>
          <a:p>
            <a:pPr algn="l">
              <a:lnSpc>
                <a:spcPct val="118000"/>
              </a:lnSpc>
            </a:pPr>
            <a:r>
              <a:rPr sz="1300" b="0">
                <a:solidFill>
                  <a:srgbClr val="8B96A5"/>
                </a:solidFill>
                <a:latin typeface="Segoe UI"/>
              </a:rPr>
              <a:t>FEG Innovation Challenge 2026  ·  Croatian brand (PSK)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01  / 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3794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141B26"/>
                </a:solidFill>
                <a:latin typeface="Segoe UI"/>
              </a:rPr>
              <a:t>One lobby.
23,673 players.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194560"/>
            <a:ext cx="3794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475363"/>
                </a:solidFill>
                <a:latin typeface="Segoe UI"/>
              </a:rPr>
              <a:t>Two rows. Identical for everyone — whether they have played one game or three hundred.
The most common route to a game here is typing its name into search. If you have to search, the lobby didn't surface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4572000"/>
            <a:ext cx="3794760" cy="109728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4727448"/>
            <a:ext cx="33558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>
                <a:solidFill>
                  <a:srgbClr val="C03932"/>
                </a:solidFill>
                <a:latin typeface="Segoe UI"/>
              </a:rPr>
              <a:t>32 of 3,202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358384"/>
            <a:ext cx="3355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games the top row can ever reach — about 1% of the library</a:t>
            </a:r>
          </a:p>
        </p:txBody>
      </p:sp>
      <p:pic>
        <p:nvPicPr>
          <p:cNvPr id="8" name="Picture 7" descr="01-anonymous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914400"/>
            <a:ext cx="7315200" cy="4392202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01 /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27652"/>
                </a:solidFill>
                <a:latin typeface="Consolas"/>
              </a:rPr>
              <a:t>02  / 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3794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141B26"/>
                </a:solidFill>
                <a:latin typeface="Segoe UI"/>
              </a:rPr>
              <a:t>Sign in.
Same page.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194560"/>
            <a:ext cx="3794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475363"/>
                </a:solidFill>
                <a:latin typeface="Segoe UI"/>
              </a:rPr>
              <a:t>Two rows become six, built from that player's own history by the trained ranker.
Nothing was removed. Popularno is still there, unchanged — and that turns out to matter.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4526280"/>
            <a:ext cx="3794760" cy="1280160"/>
          </a:xfrm>
          <a:prstGeom prst="rect">
            <a:avLst/>
          </a:prstGeom>
          <a:solidFill>
            <a:srgbClr val="F3F6FA"/>
          </a:solidFill>
          <a:ln w="17780">
            <a:solidFill>
              <a:srgbClr val="127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700016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Every tile says why. </a:t>
            </a:r>
            <a:r>
              <a:rPr sz="1250" b="0">
                <a:solidFill>
                  <a:srgbClr val="475363"/>
                </a:solidFill>
                <a:latin typeface="Segoe UI"/>
              </a:rPr>
              <a:t>The reason is the model's own largest term — not a generated sentence.</a:t>
            </a:r>
          </a:p>
        </p:txBody>
      </p:sp>
      <p:pic>
        <p:nvPicPr>
          <p:cNvPr id="7" name="Picture 6" descr="02-signed-in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914400"/>
            <a:ext cx="7315200" cy="4392202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02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03  /  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Every tile carries the reason it is there.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Not a generated rationale — the single feature with the largest weight × value in the model's own score. A test proves the attribution reconstructs the probability exactly, so /explain can be trusted in an audit.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-why-this-game.png"/>
          <p:cNvPicPr>
            <a:picLocks noChangeAspect="1"/>
          </p:cNvPicPr>
          <p:nvPr/>
        </p:nvPicPr>
        <p:blipFill>
          <a:blip r:embed="rId2"/>
          <a:srcRect t="30000" r="36000" b="10000"/>
          <a:stretch>
            <a:fillRect/>
          </a:stretch>
        </p:blipFill>
        <p:spPr>
          <a:xfrm>
            <a:off x="713232" y="2279599"/>
            <a:ext cx="6172200" cy="3474300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7205472" y="2412187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2334463"/>
            <a:ext cx="4071823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EU AI Act 2024/1689. </a:t>
            </a:r>
            <a:r>
              <a:rPr sz="1250" b="0">
                <a:solidFill>
                  <a:srgbClr val="475363"/>
                </a:solidFill>
                <a:latin typeface="Segoe UI"/>
              </a:rPr>
              <a:t>Explainability met by construction, not by a report written afterwards.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5472" y="3008071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930347"/>
            <a:ext cx="4071823" cy="6743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Dimmed, dashed tiles </a:t>
            </a:r>
            <a:r>
              <a:rPr sz="1250" b="0">
                <a:solidFill>
                  <a:srgbClr val="475363"/>
                </a:solidFill>
                <a:latin typeface="Segoe UI"/>
              </a:rPr>
              <a:t>are games whose title is not in the data. They appear only in your own history — never as a recommendation.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5472" y="3828744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3751020"/>
            <a:ext cx="4071823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No stake suggestion exists </a:t>
            </a:r>
            <a:r>
              <a:rPr sz="1250" b="0">
                <a:solidFill>
                  <a:srgbClr val="475363"/>
                </a:solidFill>
                <a:latin typeface="Segoe UI"/>
              </a:rPr>
              <a:t>anywhere in the codebase. The system recommends games, never amounts.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5472" y="4424628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4346904"/>
            <a:ext cx="4071823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No dark patterns. </a:t>
            </a:r>
            <a:r>
              <a:rPr sz="1250" b="0">
                <a:solidFill>
                  <a:srgbClr val="475363"/>
                </a:solidFill>
                <a:latin typeface="Segoe UI"/>
              </a:rPr>
              <a:t>No countdowns, no scarcity, no “others are playing”, no near-miss framing.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03 /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10765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6FA8E8"/>
                </a:solidFill>
                <a:latin typeface="Consolas"/>
              </a:rPr>
              <a:t>LIVE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83080"/>
            <a:ext cx="8686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Watch two rows become six.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1546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3154680"/>
            <a:ext cx="1021659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The anonymous lobby — what all 23,673 players see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5844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3584448"/>
            <a:ext cx="1021659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Sign in as ana.k — the same page rebuilds into six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0142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4014216"/>
            <a:ext cx="1021659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Read a tile out loud — that is the model's own top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4439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443984"/>
            <a:ext cx="1021659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davor.z — sign-in REFUSED. Age unverified; the check precedes 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87375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6FA8E8"/>
                </a:solidFill>
                <a:latin typeface="Consolas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4873752"/>
            <a:ext cx="10216591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C9D3E0"/>
                </a:solidFill>
                <a:latin typeface="Segoe UI"/>
              </a:rPr>
              <a:t>lucija.h — signs in, zero rows. Self-exclusion blocks inducements, not account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126480"/>
            <a:ext cx="10765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28FA0"/>
                </a:solidFill>
                <a:latin typeface="Segoe UI"/>
              </a:rPr>
              <a:t>12 demo accounts, generated from real player histories in the model. ~25 ms per lobby, and no network on the request path.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C03932"/>
                </a:solidFill>
                <a:latin typeface="Consolas"/>
              </a:rPr>
              <a:t>04  /  THE FINDING WE DIDN'T WANT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Our recommender lost.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On predicting the next game a player tries, collaborative filtering was beaten outright by the popularity row PSK already ships.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16759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most_played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9192" y="2435047"/>
            <a:ext cx="2926080" cy="201168"/>
          </a:xfrm>
          <a:prstGeom prst="rect">
            <a:avLst/>
          </a:prstGeom>
          <a:solidFill>
            <a:srgbClr val="127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96712" y="2407615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27652"/>
                </a:solidFill>
                <a:latin typeface="Consolas"/>
              </a:rPr>
              <a:t>0.2110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37383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provider_popular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192" y="2855671"/>
            <a:ext cx="1871181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1813" y="2828239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0.1350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258007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item-item CF (ours)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9192" y="3276295"/>
            <a:ext cx="677811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8443" y="3248863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0.0489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706063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B96A5"/>
                </a:solidFill>
                <a:latin typeface="Consolas"/>
              </a:rPr>
              <a:t>NDCG@10  ·  discovery task  ·  9,102 players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2316175"/>
            <a:ext cx="4547311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363"/>
                </a:solidFill>
                <a:latin typeface="Segoe UI"/>
              </a:rPr>
              <a:t>What players try next is overwhelmingly what is already popular. Correlation between a game's popularity and its next-week discovery count is 0.79, and one title takes 13% of all discovery plays on its own.
We swept popularity correction, shrinkage, neighbourhood size and eight blend weights before accepting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318711"/>
            <a:ext cx="10765231" cy="777240"/>
          </a:xfrm>
          <a:prstGeom prst="rect">
            <a:avLst/>
          </a:prstGeom>
          <a:solidFill>
            <a:srgbClr val="F3F6FA"/>
          </a:solidFill>
          <a:ln w="1778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510735"/>
            <a:ext cx="102897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141B26"/>
                </a:solidFill>
                <a:latin typeface="Segoe UI"/>
              </a:rPr>
              <a:t>So we kept the popularity row. </a:t>
            </a:r>
            <a:r>
              <a:rPr sz="1400" b="0">
                <a:solidFill>
                  <a:srgbClr val="475363"/>
                </a:solidFill>
                <a:latin typeface="Segoe UI"/>
              </a:rPr>
              <a:t>Replacing it would have made the lobby worse — which is why Popularno is still on the screen you just saw.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04 /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127652"/>
                </a:solidFill>
                <a:latin typeface="Consolas"/>
              </a:rPr>
              <a:t>05  /  THE RESULT THAT JUSTIFIES THE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But popularity only knows 29 games.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2697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Remove the global top-50 and it reverses. This is the tail — where 76.5% of all discovery already happens.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625803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147011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Trained ranker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9192" y="2165299"/>
            <a:ext cx="2926080" cy="201168"/>
          </a:xfrm>
          <a:prstGeom prst="rect">
            <a:avLst/>
          </a:prstGeom>
          <a:solidFill>
            <a:srgbClr val="127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96712" y="2137867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27652"/>
                </a:solidFill>
                <a:latin typeface="Consolas"/>
              </a:rPr>
              <a:t>0.0708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567635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Blend (seq + CF)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192" y="2585923"/>
            <a:ext cx="2708876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79508" y="2558491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0.0655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88259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Sequence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9192" y="3006547"/>
            <a:ext cx="2683063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53695" y="2979115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0.0649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408883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Item-item CF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9192" y="3427171"/>
            <a:ext cx="2025024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5656" y="3399739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829507"/>
            <a:ext cx="1856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most_played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9192" y="3847795"/>
            <a:ext cx="684106" cy="201168"/>
          </a:xfrm>
          <a:prstGeom prst="rect">
            <a:avLst/>
          </a:prstGeom>
          <a:solidFill>
            <a:srgbClr val="C3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4738" y="3820363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8B96A5"/>
                </a:solidFill>
                <a:latin typeface="Consolas"/>
              </a:rPr>
              <a:t>0.0165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231843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B96A5"/>
                </a:solidFill>
                <a:latin typeface="Consolas"/>
              </a:rPr>
              <a:t>NDCG@10  ·  tail discovery  ·  5,921 players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31152" y="2046427"/>
            <a:ext cx="2173071" cy="11430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0608" y="2201875"/>
            <a:ext cx="1734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127652"/>
                </a:solidFill>
                <a:latin typeface="Segoe UI"/>
              </a:rPr>
              <a:t>4.28×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832811"/>
            <a:ext cx="173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better than the row that ships today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05391" y="2046427"/>
            <a:ext cx="2173071" cy="11430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24847" y="2201875"/>
            <a:ext cx="1734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127652"/>
                </a:solidFill>
                <a:latin typeface="Segoe UI"/>
              </a:rPr>
              <a:t>25×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4847" y="2832811"/>
            <a:ext cx="173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the catalogue — 732 games, not 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3363163"/>
            <a:ext cx="4547311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363"/>
                </a:solidFill>
                <a:latin typeface="Segoe UI"/>
              </a:rPr>
              <a:t>Popularity owns the head. We own the tail.
The recommender is additive — nothing that already worked was removed, so the downside is bounded at screen space, and every row ships behind its own feature flag.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05 / 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06  /  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Two stages: propose, then re-rank.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Cheap models generate candidates; a trained model orders them. The second stage is what beats the blend — and it is also what makes every tile explainable.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279599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435047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Item-item CF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36799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Cosine over 23,673 × 3,202, shrinkage, and a popularity correction applied to the similarity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9254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21142" y="2279599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7446" y="2435047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Day-to-day sequence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7446" y="2736799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Row-normalised transitions over 1.4M ordered pairs, with recency-decayed profiles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045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9052" y="2279599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5356" y="2435047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~200 candidates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5356" y="2736799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The union per player, with everything already played removed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0836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6962" y="2279599"/>
            <a:ext cx="1933590" cy="1371600"/>
          </a:xfrm>
          <a:prstGeom prst="rect">
            <a:avLst/>
          </a:prstGeom>
          <a:noFill/>
          <a:ln w="20320">
            <a:solidFill>
              <a:srgbClr val="127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6962" y="2279599"/>
            <a:ext cx="1933590" cy="45720"/>
          </a:xfrm>
          <a:prstGeom prst="rect">
            <a:avLst/>
          </a:prstGeom>
          <a:solidFill>
            <a:srgbClr val="127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3266" y="2435047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27652"/>
                </a:solidFill>
                <a:latin typeface="Segoe UI"/>
              </a:rPr>
              <a:t>Trained re-ranker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3266" y="2736799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LogisticRegression · 14 features · ~200k labelled rows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16272" y="2901391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44872" y="2279599"/>
            <a:ext cx="1933590" cy="1371600"/>
          </a:xfrm>
          <a:prstGeom prst="rect">
            <a:avLst/>
          </a:prstGeom>
          <a:noFill/>
          <a:ln w="2032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44872" y="2279599"/>
            <a:ext cx="1933590" cy="45720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1176" y="2435047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2B6FC8"/>
                </a:solidFill>
                <a:latin typeface="Segoe UI"/>
              </a:rPr>
              <a:t>Score → reason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1176" y="2736799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Each score decomposes into weight × value; the largest term is the sentence on the tile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4030675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952951"/>
            <a:ext cx="10564063" cy="647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The features. </a:t>
            </a:r>
            <a:r>
              <a:rPr sz="1200" b="0">
                <a:solidFill>
                  <a:srgbClr val="475363"/>
                </a:solidFill>
                <a:latin typeface="Segoe UI"/>
              </a:rPr>
              <a:t>CF score, sequence score, popularity, provider affinity and recency, type affinity, stake momentum, release age, is-new, jackpot, payout ratio, and three player-level terms. Payout ratio is a similarity feature only — never ranked on, never shown, because advertising “this game pays more” is the inducement the AI Act prohibits.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4824374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746650"/>
            <a:ext cx="10564063" cy="431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The name bridge. </a:t>
            </a:r>
            <a:r>
              <a:rPr sz="1200" b="0">
                <a:solidFill>
                  <a:srgbClr val="475363"/>
                </a:solidFill>
                <a:latin typeface="Segoe UI"/>
              </a:rPr>
              <a:t>2,723 game codes carried no title at all. Co-occurrence on (player, day), constrained to matching providers, recovered 180 of them — 37% of all stake. It independently derived that gpas_3chken_pop is “4 Crazy Cluckers”, from a slug it cannot read.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02274"/>
            <a:ext cx="64008" cy="64008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324550"/>
            <a:ext cx="10564063" cy="431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Measured honestly. </a:t>
            </a:r>
            <a:r>
              <a:rPr sz="1200" b="0">
                <a:solidFill>
                  <a:srgbClr val="475363"/>
                </a:solidFill>
                <a:latin typeface="Segoe UI"/>
              </a:rPr>
              <a:t>Three-way temporal split — hyperparameters chosen on a validation week, never the test week. Gradient boosting won a player-split validation and then lost the temporal test: exactly the overfitting you cannot see if you only split by user.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06 / 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07  /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Additive middleware on FEG's own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One stateless service reading precomputed artifacts. No GPU, no model API, and no new instrumentation — it reads the warehouse table CA_Player is already exported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471623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CA_Player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73375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The export FEG already produces. Daily batch, no new tracking required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9254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2114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7446" y="2471623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7446" y="2773375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Clean, name-bridge, features, three-way split. Seconds on one core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045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905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5356" y="2471623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artifacts/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5356" y="2773375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18 MB — similarity, sequence, catalogue, ranker. Object storage or the image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0836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6962" y="2316175"/>
            <a:ext cx="1933590" cy="1371600"/>
          </a:xfrm>
          <a:prstGeom prst="rect">
            <a:avLst/>
          </a:prstGeom>
          <a:noFill/>
          <a:ln w="2032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6962" y="2316175"/>
            <a:ext cx="1933590" cy="45720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3266" y="2471623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2B6FC8"/>
                </a:solidFill>
                <a:latin typeface="Segoe UI"/>
              </a:rPr>
              <a:t>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3266" y="2773375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Python or Java, stateless, horizontally scaled. ~25 ms, no I/O on the request path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16272" y="2937967"/>
            <a:ext cx="182880" cy="128016"/>
          </a:xfrm>
          <a:prstGeom prst="rightArrow">
            <a:avLst/>
          </a:prstGeom>
          <a:solidFill>
            <a:srgbClr val="B9C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44872" y="2316175"/>
            <a:ext cx="1933590" cy="137160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1176" y="2471623"/>
            <a:ext cx="1640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141B26"/>
                </a:solidFill>
                <a:latin typeface="Segoe UI"/>
              </a:rPr>
              <a:t>Vue 3 row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1176" y="2773375"/>
            <a:ext cx="164098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475363"/>
                </a:solidFill>
                <a:latin typeface="Segoe UI"/>
              </a:rPr>
              <a:t>One component, one JSON contract. Render the rows you recognise, ignore the rest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998671"/>
            <a:ext cx="10765231" cy="685800"/>
          </a:xfrm>
          <a:prstGeom prst="rect">
            <a:avLst/>
          </a:prstGeom>
          <a:noFill/>
          <a:ln w="20320">
            <a:solidFill>
              <a:srgbClr val="C03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4172407"/>
            <a:ext cx="103263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C03932"/>
                </a:solidFill>
                <a:latin typeface="Segoe UI"/>
              </a:rPr>
              <a:t>The responsible-play gate sits inside the service, before scoring — </a:t>
            </a:r>
            <a:r>
              <a:rPr sz="1300" b="0">
                <a:solidFill>
                  <a:srgbClr val="475363"/>
                </a:solidFill>
                <a:latin typeface="Segoe UI"/>
              </a:rPr>
              <a:t>not in the client, and not behind a flag anyone can switch off.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867351"/>
            <a:ext cx="1076523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41B26"/>
                </a:solidFill>
                <a:latin typeface="Segoe UI"/>
              </a:rPr>
              <a:t>What FEG actually builds: </a:t>
            </a:r>
            <a:r>
              <a:rPr sz="1300" b="0">
                <a:solidFill>
                  <a:srgbClr val="475363"/>
                </a:solidFill>
                <a:latin typeface="Segoe UI"/>
              </a:rPr>
              <a:t>a Vue row component (3–4 days), a daily batch job (1 day), and a service deployment (2–3 days). Redis and Kafka are only needed below a daily cadence, so neither is on the critical path. Everything else in the repository is done.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07 / 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C03932"/>
                </a:solidFill>
                <a:latin typeface="Consolas"/>
              </a:rPr>
              <a:t>08  /  COMPLIANCE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03504"/>
            <a:ext cx="5532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41B26"/>
                </a:solidFill>
                <a:latin typeface="Segoe UI"/>
              </a:rPr>
              <a:t>The gate runs before the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7008"/>
            <a:ext cx="5532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475363"/>
                </a:solidFill>
                <a:latin typeface="Segoe UI"/>
              </a:rPr>
              <a:t>Two gates, firing at different points, because the law treats them differently. Both directions are asserted in tests — getting either backwards would be a real compliance failure.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2395728"/>
          <a:ext cx="5532119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6884"/>
                <a:gridCol w="348523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363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marL="109728" marR="109728" marT="45720" marB="45720" anchor="ctr"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363"/>
                          </a:solidFill>
                          <a:latin typeface="Segoe UI"/>
                        </a:rPr>
                        <a:t>Where it fires</a:t>
                      </a:r>
                    </a:p>
                  </a:txBody>
                  <a:tcPr marL="109728" marR="109728" marT="45720" marB="45720" anchor="ctr">
                    <a:solidFill>
                      <a:srgbClr val="F3F6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C03932"/>
                          </a:solidFill>
                          <a:latin typeface="Segoe UI"/>
                        </a:rPr>
                        <a:t>Age / ID unverified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1B26"/>
                          </a:solidFill>
                          <a:latin typeface="Segoe UI"/>
                        </a:rPr>
                        <a:t>At sign-in — refused, no session issued at all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C03932"/>
                          </a:solidFill>
                          <a:latin typeface="Segoe UI"/>
                        </a:rPr>
                        <a:t>Self-excluded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1B26"/>
                          </a:solidFill>
                          <a:latin typeface="Segoe UI"/>
                        </a:rPr>
                        <a:t>After sign-in — the account opens, the lobby returns zero rows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4224528"/>
            <a:ext cx="5532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Self-exclusion blocks inducements, not account access. </a:t>
            </a:r>
            <a:r>
              <a:rPr sz="1250" b="0">
                <a:solidFill>
                  <a:srgbClr val="475363"/>
                </a:solidFill>
                <a:latin typeface="Segoe UI"/>
              </a:rPr>
              <a:t>The person must still reach their account and support — so they sign in, and get zero recommendations plus the required surfaces. Not filtered afterwards. Never scored.</a:t>
            </a:r>
          </a:p>
        </p:txBody>
      </p:sp>
      <p:pic>
        <p:nvPicPr>
          <p:cNvPr id="7" name="Picture 6" descr="05-self-excluded-zero-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051560"/>
            <a:ext cx="5532120" cy="3321603"/>
          </a:xfrm>
          <a:prstGeom prst="rect">
            <a:avLst/>
          </a:prstGeom>
          <a:ln w="12700">
            <a:solidFill>
              <a:srgbClr val="DDE3E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656832" y="4526280"/>
            <a:ext cx="5532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B96A5"/>
                </a:solidFill>
                <a:latin typeface="Consolas"/>
              </a:rPr>
              <a:t>the self-excluded account, signed in — zero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08 /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B87D0A"/>
                </a:solidFill>
                <a:latin typeface="Consolas"/>
              </a:rPr>
              <a:t>09  / 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€19.6M a fortnight rides on discovery.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13.7% of all stake sits on games a player was trying for the first time — 138,041 first-time adoptions, median €16.16. That entire flow is served today by a search box.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>
                <a:solidFill>
                  <a:srgbClr val="B87D0A"/>
                </a:solidFill>
                <a:latin typeface="Segoe UI"/>
              </a:rPr>
              <a:t>€19.6M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on first-time game plays every fortnight — a seventh of all stake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0890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346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>
                <a:solidFill>
                  <a:srgbClr val="B87D0A"/>
                </a:solidFill>
                <a:latin typeface="Segoe UI"/>
              </a:rPr>
              <a:t>€17.00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346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median stake on a newly-adopted tail game, against €10.50 on a top-50 game. The tail is not the cheap 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8548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8004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100" b="1">
                <a:solidFill>
                  <a:srgbClr val="C03932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8004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revenue-uplift numbers we are willing to claim. We tested it three ways and it did not survive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742639"/>
            <a:ext cx="10765231" cy="1600200"/>
          </a:xfrm>
          <a:prstGeom prst="rect">
            <a:avLst/>
          </a:prstGeom>
          <a:solidFill>
            <a:srgbClr val="F3F6FA"/>
          </a:solidFill>
          <a:ln w="17780">
            <a:solidFill>
              <a:srgbClr val="2B6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943807"/>
            <a:ext cx="102531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41B26"/>
                </a:solidFill>
                <a:latin typeface="Segoe UI"/>
              </a:rPr>
              <a:t>Matched on activity, adopters retain no better and stake less the next week. </a:t>
            </a:r>
            <a:r>
              <a:rPr sz="1250" b="0">
                <a:solidFill>
                  <a:srgbClr val="475363"/>
                </a:solidFill>
                <a:latin typeface="Segoe UI"/>
              </a:rPr>
              <a:t>So we make no revenue claim. What we argue instead: exploration correlates with lower value </a:t>
            </a:r>
            <a:r>
              <a:rPr sz="1250" b="1">
                <a:solidFill>
                  <a:srgbClr val="141B26"/>
                </a:solidFill>
                <a:latin typeface="Segoe UI"/>
              </a:rPr>
              <a:t>because exploration currently fails</a:t>
            </a:r>
            <a:r>
              <a:rPr sz="1250" b="0">
                <a:solidFill>
                  <a:srgbClr val="475363"/>
                </a:solidFill>
                <a:latin typeface="Segoe UI"/>
              </a:rPr>
              <a:t> — players hunt and don't find. The job is not more exploration; it is making the exploration they already do succeed.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The experiment that settles it: A/B on the lobby, primary metric = first-time adoptions replayed within 7 days. That separates “found something good” from “tried and bounced”.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09 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10  /  THE ONE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58% of stake is on games we cannot name.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Opaque codes like pop_9f571b7a_egtfeg. They train the model — their co-occurrence is real signal — but they can never be recommended, because a player cannot know what they are being offered.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C03932"/>
                </a:solidFill>
                <a:latin typeface="Segoe UI"/>
              </a:rPr>
              <a:t>58%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of all stake, still on games with no title we can show a player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0890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0346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127652"/>
                </a:solidFill>
                <a:latin typeface="Segoe UI"/>
              </a:rPr>
              <a:t>180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346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codes our name bridge already recovered from behaviour alone — 37% of stake, catalogue up to 479 games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8548" y="2334463"/>
            <a:ext cx="3429914" cy="118872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8004" y="2489911"/>
            <a:ext cx="299100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300" b="1">
                <a:solidFill>
                  <a:srgbClr val="2B6FC8"/>
                </a:solidFill>
                <a:latin typeface="Segoe UI"/>
              </a:rPr>
              <a:t>~9×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8004" y="3120847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475363"/>
                </a:solidFill>
                <a:latin typeface="Segoe UI"/>
              </a:rPr>
              <a:t>the addressable inventory, if FEG shares a game catalogue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770071"/>
            <a:ext cx="10765231" cy="960120"/>
          </a:xfrm>
          <a:prstGeom prst="rect">
            <a:avLst/>
          </a:prstGeom>
          <a:solidFill>
            <a:srgbClr val="1117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971239"/>
            <a:ext cx="102165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A game catalogue — code → title, category, thumbnail. </a:t>
            </a:r>
            <a:r>
              <a:rPr sz="1400" b="0">
                <a:solidFill>
                  <a:srgbClr val="C9D3E0"/>
                </a:solidFill>
                <a:latin typeface="Segoe UI"/>
              </a:rPr>
              <a:t>It costs FEG a database export. It is the single highest-value thing we could be given, and the only limit here we cannot engineer around.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10 /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10896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8B96A5"/>
                </a:solidFill>
                <a:latin typeface="Consolas"/>
              </a:rPr>
              <a:t>11  /  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530352"/>
            <a:ext cx="10765231" cy="533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300" b="1">
                <a:solidFill>
                  <a:srgbClr val="141B26"/>
                </a:solidFill>
                <a:latin typeface="Segoe UI"/>
              </a:rPr>
              <a:t>The lobby should know who is looking at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09751"/>
            <a:ext cx="10765231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475363"/>
                </a:solidFill>
                <a:latin typeface="Segoe UI"/>
              </a:rPr>
              <a:t>Today it doesn't. We measured what personalisation can and cannot do here, kept the row that already worked, and added the 732 games it could never reach.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895551"/>
            <a:ext cx="1371600" cy="28575"/>
          </a:xfrm>
          <a:prstGeom prst="rect">
            <a:avLst/>
          </a:prstGeom>
          <a:solidFill>
            <a:srgbClr val="2B6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2316175"/>
            <a:ext cx="5208879" cy="2240280"/>
          </a:xfrm>
          <a:prstGeom prst="rect">
            <a:avLst/>
          </a:prstGeom>
          <a:solidFill>
            <a:srgbClr val="F3F6FA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480767"/>
            <a:ext cx="4733391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>
                <a:solidFill>
                  <a:srgbClr val="127652"/>
                </a:solidFill>
                <a:latin typeface="Segoe UI"/>
              </a:rPr>
              <a:t>Shipped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Pipeline → model → API → lobby, end to end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A real login journey, 12 accounts from real histories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~25 ms per lobby. No GPU, no model fit at request time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54 tests, green on a clean clone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Eight documents — including the evaluation with the loss in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9583" y="2316175"/>
            <a:ext cx="5208879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7327" y="2480767"/>
            <a:ext cx="4733391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>
                <a:solidFill>
                  <a:srgbClr val="B87D0A"/>
                </a:solidFill>
                <a:latin typeface="Segoe UI"/>
              </a:rPr>
              <a:t>Not built — and we say so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Vue SDK yet — the dashboard is plain HTML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Kafka/Redis — the pipeline is a daily batch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Prototype auth: hashed and signed, but no rate limiting or MFA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session-level sequence model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475363"/>
                </a:solidFill>
                <a:latin typeface="Segoe UI"/>
              </a:rPr>
              <a:t>No online experiment — every number here is offline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748479"/>
            <a:ext cx="10765231" cy="127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913071"/>
            <a:ext cx="10765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8B96A5"/>
                </a:solidFill>
                <a:latin typeface="Consolas"/>
              </a:rPr>
              <a:t>Team Q'Makers  ·  feg-hackathon-2026-QMakers  ·  FEG Innovation Challenge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11 / 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9324" y="6382512"/>
            <a:ext cx="64591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50" b="0">
                <a:solidFill>
                  <a:srgbClr val="8B96A5"/>
                </a:solidFill>
                <a:latin typeface="Consolas"/>
              </a:rPr>
              <a:t>Q'Makers · FEG Innovation Challenge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