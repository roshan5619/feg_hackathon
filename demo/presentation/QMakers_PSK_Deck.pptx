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1417320"/>
            <a:ext cx="1076523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5200" b="1">
                <a:solidFill>
                  <a:srgbClr val="141B26"/>
                </a:solidFill>
                <a:latin typeface="Segoe UI"/>
              </a:rPr>
              <a:t>PSK Personalised Lobby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514600"/>
            <a:ext cx="8229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0">
                <a:solidFill>
                  <a:srgbClr val="2B6FC8"/>
                </a:solidFill>
                <a:latin typeface="Segoe UI"/>
              </a:rPr>
              <a:t>The lobby should know who is looking at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310128"/>
            <a:ext cx="8595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A game recommender that rebuilds the casino lobby around what each player actually plays.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4343400"/>
            <a:ext cx="10765231" cy="127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45720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75363"/>
                </a:solidFill>
                <a:latin typeface="Consolas"/>
              </a:rPr>
              <a:t>23,673 players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2152" y="45720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75363"/>
                </a:solidFill>
                <a:latin typeface="Consolas"/>
              </a:rPr>
              <a:t>3,202 games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91072" y="45720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75363"/>
                </a:solidFill>
                <a:latin typeface="Consolas"/>
              </a:rPr>
              <a:t>741,679 rows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79992" y="45720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75363"/>
                </a:solidFill>
                <a:latin typeface="Consolas"/>
              </a:rPr>
              <a:t>a trained ranker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669280"/>
            <a:ext cx="1076523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8B96A5"/>
                </a:solidFill>
                <a:latin typeface="Segoe UI"/>
              </a:rPr>
              <a:t>Team Q'Makers  ·  Bandlapalli Roshan Babu  ·  C. Kavya Sri · M. Yashwanth</a:t>
            </a:r>
          </a:p>
          <a:p>
            <a:pPr algn="l">
              <a:lnSpc>
                <a:spcPct val="118000"/>
              </a:lnSpc>
            </a:pPr>
            <a:r>
              <a:rPr sz="1300" b="0">
                <a:solidFill>
                  <a:srgbClr val="8B96A5"/>
                </a:solidFill>
                <a:latin typeface="Segoe UI"/>
              </a:rPr>
              <a:t>FEG Innovation Challenge 2026  ·  Croatian brand (PSK) 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8B96A5"/>
                </a:solidFill>
                <a:latin typeface="Consolas"/>
              </a:rPr>
              <a:t>01  / 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3794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141B26"/>
                </a:solidFill>
                <a:latin typeface="Segoe UI"/>
              </a:rPr>
              <a:t>One lobby.
23,673 players.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194560"/>
            <a:ext cx="37947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475363"/>
                </a:solidFill>
                <a:latin typeface="Segoe UI"/>
              </a:rPr>
              <a:t>Two rows. Identical for everyone — whether they have played one game or three hundred.
The most common route to a game here is typing its name into search. If you have to search, the lobby didn't surface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4572000"/>
            <a:ext cx="3794760" cy="132588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4727448"/>
            <a:ext cx="33558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C03932"/>
                </a:solidFill>
                <a:latin typeface="Segoe UI"/>
              </a:rPr>
              <a:t>32 of 3,202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5358384"/>
            <a:ext cx="33558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75363"/>
                </a:solidFill>
                <a:latin typeface="Segoe UI"/>
              </a:rPr>
              <a:t>games the top row can ever reach — about 1% of the library</a:t>
            </a:r>
          </a:p>
        </p:txBody>
      </p:sp>
      <p:pic>
        <p:nvPicPr>
          <p:cNvPr id="8" name="Picture 7" descr="01-anonymous-lob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2" y="914400"/>
            <a:ext cx="7315200" cy="4392202"/>
          </a:xfrm>
          <a:prstGeom prst="rect">
            <a:avLst/>
          </a:prstGeom>
          <a:ln w="12700">
            <a:solidFill>
              <a:srgbClr val="DDE3E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01 /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127652"/>
                </a:solidFill>
                <a:latin typeface="Consolas"/>
              </a:rPr>
              <a:t>02  /  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3794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141B26"/>
                </a:solidFill>
                <a:latin typeface="Segoe UI"/>
              </a:rPr>
              <a:t>Sign in.
Same page.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194560"/>
            <a:ext cx="37947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475363"/>
                </a:solidFill>
                <a:latin typeface="Segoe UI"/>
              </a:rPr>
              <a:t>Two rows become six, built from that player's own history by the trained ranker.
Nothing was removed. Popular is still there, unchanged — and that turns out to matter.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4526280"/>
            <a:ext cx="3794760" cy="1280160"/>
          </a:xfrm>
          <a:prstGeom prst="rect">
            <a:avLst/>
          </a:prstGeom>
          <a:solidFill>
            <a:srgbClr val="F3F6FA"/>
          </a:solidFill>
          <a:ln w="17780">
            <a:solidFill>
              <a:srgbClr val="127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700016"/>
            <a:ext cx="3383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Every tile says why. </a:t>
            </a:r>
            <a:r>
              <a:rPr sz="1250" b="0">
                <a:solidFill>
                  <a:srgbClr val="475363"/>
                </a:solidFill>
                <a:latin typeface="Segoe UI"/>
              </a:rPr>
              <a:t>The reason is the model's own largest term — not a generated sentence.</a:t>
            </a:r>
          </a:p>
        </p:txBody>
      </p:sp>
      <p:pic>
        <p:nvPicPr>
          <p:cNvPr id="7" name="Picture 6" descr="02-signed-in-lob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2" y="914400"/>
            <a:ext cx="7315200" cy="4392202"/>
          </a:xfrm>
          <a:prstGeom prst="rect">
            <a:avLst/>
          </a:prstGeom>
          <a:ln w="12700">
            <a:solidFill>
              <a:srgbClr val="DDE3E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02 /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8B96A5"/>
                </a:solidFill>
                <a:latin typeface="Consolas"/>
              </a:rPr>
              <a:t>03  /  EXPLAINABILITY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10765231" cy="5330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300" b="1">
                <a:solidFill>
                  <a:srgbClr val="141B26"/>
                </a:solidFill>
                <a:latin typeface="Segoe UI"/>
              </a:rPr>
              <a:t>Every tile carries the reason it is there.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9751"/>
            <a:ext cx="10765231" cy="539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Not a generated rationale — the single feature with the largest weight × value in the model's own score. A test proves the attribution reconstructs the probability exactly, so /explain can be trusted in an audit.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895551"/>
            <a:ext cx="1371600" cy="28575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-why-this-game.png"/>
          <p:cNvPicPr>
            <a:picLocks noChangeAspect="1"/>
          </p:cNvPicPr>
          <p:nvPr/>
        </p:nvPicPr>
        <p:blipFill>
          <a:blip r:embed="rId2"/>
          <a:srcRect t="30000" r="36000" b="10000"/>
          <a:stretch>
            <a:fillRect/>
          </a:stretch>
        </p:blipFill>
        <p:spPr>
          <a:xfrm>
            <a:off x="713232" y="2279599"/>
            <a:ext cx="6172200" cy="3474300"/>
          </a:xfrm>
          <a:prstGeom prst="rect">
            <a:avLst/>
          </a:prstGeom>
          <a:ln w="12700">
            <a:solidFill>
              <a:srgbClr val="DDE3EC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7205472" y="2412187"/>
            <a:ext cx="64008" cy="64008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2334463"/>
            <a:ext cx="4071823" cy="449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EU AI Act 2024/1689. </a:t>
            </a:r>
            <a:r>
              <a:rPr sz="1250" b="0">
                <a:solidFill>
                  <a:srgbClr val="475363"/>
                </a:solidFill>
                <a:latin typeface="Segoe UI"/>
              </a:rPr>
              <a:t>Explainability met by construction, not by a report written afterwards.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5472" y="3008071"/>
            <a:ext cx="64008" cy="64008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2930347"/>
            <a:ext cx="4071823" cy="6743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Dimmed, dashed tiles </a:t>
            </a:r>
            <a:r>
              <a:rPr sz="1250" b="0">
                <a:solidFill>
                  <a:srgbClr val="475363"/>
                </a:solidFill>
                <a:latin typeface="Segoe UI"/>
              </a:rPr>
              <a:t>are games whose title is not in the data. They appear only in your own history — never as a recommendation.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05472" y="3828744"/>
            <a:ext cx="64008" cy="64008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3751020"/>
            <a:ext cx="4071823" cy="449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No stake suggestion exists </a:t>
            </a:r>
            <a:r>
              <a:rPr sz="1250" b="0">
                <a:solidFill>
                  <a:srgbClr val="475363"/>
                </a:solidFill>
                <a:latin typeface="Segoe UI"/>
              </a:rPr>
              <a:t>anywhere in the codebase. The system recommends games, never amounts.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05472" y="4424628"/>
            <a:ext cx="64008" cy="64008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4346904"/>
            <a:ext cx="4071823" cy="449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No dark patterns. </a:t>
            </a:r>
            <a:r>
              <a:rPr sz="1250" b="0">
                <a:solidFill>
                  <a:srgbClr val="475363"/>
                </a:solidFill>
                <a:latin typeface="Segoe UI"/>
              </a:rPr>
              <a:t>No countdowns, no scarcity, no “others are playing”, no near-miss framing.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03 /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7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325880"/>
            <a:ext cx="107652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6FA8E8"/>
                </a:solidFill>
                <a:latin typeface="Consolas"/>
              </a:rPr>
              <a:t>LIVE 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783080"/>
            <a:ext cx="8686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Watch two rows become six.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15468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6FA8E8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6152" y="3154680"/>
            <a:ext cx="10216591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C9D3E0"/>
                </a:solidFill>
                <a:latin typeface="Segoe UI"/>
              </a:rPr>
              <a:t>The anonymous lobby — what all 23,673 players see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584448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6FA8E8"/>
                </a:solidFill>
                <a:latin typeface="Consola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3584448"/>
            <a:ext cx="10216591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C9D3E0"/>
                </a:solidFill>
                <a:latin typeface="Segoe UI"/>
              </a:rPr>
              <a:t>Sign in as ana.k — the same page rebuilds into six rows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014216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6FA8E8"/>
                </a:solidFill>
                <a:latin typeface="Consolas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4014216"/>
            <a:ext cx="10216591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C9D3E0"/>
                </a:solidFill>
                <a:latin typeface="Segoe UI"/>
              </a:rPr>
              <a:t>Read a tile out loud — that is the model's own top feature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44398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6FA8E8"/>
                </a:solidFill>
                <a:latin typeface="Consolas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6152" y="4443984"/>
            <a:ext cx="10216591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C9D3E0"/>
                </a:solidFill>
                <a:latin typeface="Segoe UI"/>
              </a:rPr>
              <a:t>davor.z — sign-in REFUSED. Age unverified; the check precedes play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487375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6FA8E8"/>
                </a:solidFill>
                <a:latin typeface="Consolas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4873752"/>
            <a:ext cx="10216591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C9D3E0"/>
                </a:solidFill>
                <a:latin typeface="Segoe UI"/>
              </a:rPr>
              <a:t>lucija.h — signs in, zero rows. Self-exclusion blocks inducements, not account access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6126480"/>
            <a:ext cx="107652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828FA0"/>
                </a:solidFill>
                <a:latin typeface="Segoe UI"/>
              </a:rPr>
              <a:t>12 demo accounts, generated from real player histories in the model. ~25 ms per lobby, and no network on the request path.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C03932"/>
                </a:solidFill>
                <a:latin typeface="Consolas"/>
              </a:rPr>
              <a:t>04  /  THE FINDING WE DIDN'T WANT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10765231" cy="5330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300" b="1">
                <a:solidFill>
                  <a:srgbClr val="141B26"/>
                </a:solidFill>
                <a:latin typeface="Segoe UI"/>
              </a:rPr>
              <a:t>Our recommender lost.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9751"/>
            <a:ext cx="10765231" cy="539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On predicting the next game a player tries, collaborative filtering was beaten outright by the popularity row PSK already ships.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895551"/>
            <a:ext cx="1371600" cy="28575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416759"/>
            <a:ext cx="1856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most_played</a:t>
            </a:r>
          </a:p>
        </p:txBody>
      </p:sp>
      <p:sp>
        <p:nvSpPr>
          <p:cNvPr id="7" name="Rectangle 6"/>
          <p:cNvSpPr/>
          <p:nvPr/>
        </p:nvSpPr>
        <p:spPr>
          <a:xfrm>
            <a:off x="2679192" y="2435047"/>
            <a:ext cx="2926080" cy="201168"/>
          </a:xfrm>
          <a:prstGeom prst="rect">
            <a:avLst/>
          </a:prstGeom>
          <a:solidFill>
            <a:srgbClr val="127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96712" y="2407615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27652"/>
                </a:solidFill>
                <a:latin typeface="Consolas"/>
              </a:rPr>
              <a:t>0.2110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837383"/>
            <a:ext cx="1856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provider_popular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79192" y="2855671"/>
            <a:ext cx="1871181" cy="201168"/>
          </a:xfrm>
          <a:prstGeom prst="rect">
            <a:avLst/>
          </a:prstGeom>
          <a:solidFill>
            <a:srgbClr val="C3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1813" y="2828239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8B96A5"/>
                </a:solidFill>
                <a:latin typeface="Consolas"/>
              </a:rPr>
              <a:t>0.1350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258007"/>
            <a:ext cx="1856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item-item CF (ours)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79192" y="3276295"/>
            <a:ext cx="677811" cy="201168"/>
          </a:xfrm>
          <a:prstGeom prst="rect">
            <a:avLst/>
          </a:prstGeom>
          <a:solidFill>
            <a:srgbClr val="C3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48443" y="3248863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8B96A5"/>
                </a:solidFill>
                <a:latin typeface="Consolas"/>
              </a:rPr>
              <a:t>0.0489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706063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8B96A5"/>
                </a:solidFill>
                <a:latin typeface="Consolas"/>
              </a:rPr>
              <a:t>NDCG@10  ·  discovery task  ·  9,102 players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31152" y="2316175"/>
            <a:ext cx="4547311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75363"/>
                </a:solidFill>
                <a:latin typeface="Segoe UI"/>
              </a:rPr>
              <a:t>What players try next is overwhelmingly what is already popular. Correlation between a game's popularity and its next-week discovery count is 0.79, and one title takes 13% of all discovery plays on its own.
We swept popularity correction, shrinkage, neighbourhood size and eight blend weights before accepting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4318711"/>
            <a:ext cx="10765231" cy="777240"/>
          </a:xfrm>
          <a:prstGeom prst="rect">
            <a:avLst/>
          </a:prstGeom>
          <a:solidFill>
            <a:srgbClr val="F3F6FA"/>
          </a:solidFill>
          <a:ln w="17780">
            <a:solidFill>
              <a:srgbClr val="2B6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" y="4510735"/>
            <a:ext cx="102897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41B26"/>
                </a:solidFill>
                <a:latin typeface="Segoe UI"/>
              </a:rPr>
              <a:t>So we kept the popularity row. </a:t>
            </a:r>
            <a:r>
              <a:rPr sz="1400" b="0">
                <a:solidFill>
                  <a:srgbClr val="475363"/>
                </a:solidFill>
                <a:latin typeface="Segoe UI"/>
              </a:rPr>
              <a:t>Replacing it would have made the lobby worse — which is why Popular is still on the screen you just saw.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04 /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127652"/>
                </a:solidFill>
                <a:latin typeface="Consolas"/>
              </a:rPr>
              <a:t>05  /  THE RESULT THAT JUSTIFIES THE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10765231" cy="5330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300" b="1">
                <a:solidFill>
                  <a:srgbClr val="141B26"/>
                </a:solidFill>
                <a:latin typeface="Segoe UI"/>
              </a:rPr>
              <a:t>But popularity only knows 29 games.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9751"/>
            <a:ext cx="10765231" cy="2697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Remove the global top-50 and it reverses. This is the tail — where 76.5% of all discovery already happens.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625803"/>
            <a:ext cx="1371600" cy="28575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147011"/>
            <a:ext cx="1856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Trained ranker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679192" y="2165299"/>
            <a:ext cx="2926080" cy="201168"/>
          </a:xfrm>
          <a:prstGeom prst="rect">
            <a:avLst/>
          </a:prstGeom>
          <a:solidFill>
            <a:srgbClr val="127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96712" y="2137867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27652"/>
                </a:solidFill>
                <a:latin typeface="Consolas"/>
              </a:rPr>
              <a:t>0.0708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567635"/>
            <a:ext cx="1856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Blend (seq + CF)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79192" y="2585923"/>
            <a:ext cx="2708876" cy="201168"/>
          </a:xfrm>
          <a:prstGeom prst="rect">
            <a:avLst/>
          </a:prstGeom>
          <a:solidFill>
            <a:srgbClr val="C3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79508" y="2558491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8B96A5"/>
                </a:solidFill>
                <a:latin typeface="Consolas"/>
              </a:rPr>
              <a:t>0.0655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988259"/>
            <a:ext cx="1856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Sequence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79192" y="3006547"/>
            <a:ext cx="2683063" cy="201168"/>
          </a:xfrm>
          <a:prstGeom prst="rect">
            <a:avLst/>
          </a:prstGeom>
          <a:solidFill>
            <a:srgbClr val="C3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53695" y="2979115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8B96A5"/>
                </a:solidFill>
                <a:latin typeface="Consolas"/>
              </a:rPr>
              <a:t>0.0649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408883"/>
            <a:ext cx="1856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Item-item CF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79192" y="3427171"/>
            <a:ext cx="2025024" cy="201168"/>
          </a:xfrm>
          <a:prstGeom prst="rect">
            <a:avLst/>
          </a:prstGeom>
          <a:solidFill>
            <a:srgbClr val="C3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5656" y="3399739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8B96A5"/>
                </a:solidFill>
                <a:latin typeface="Consolas"/>
              </a:rPr>
              <a:t>0.0490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829507"/>
            <a:ext cx="1856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most_played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79192" y="3847795"/>
            <a:ext cx="684106" cy="201168"/>
          </a:xfrm>
          <a:prstGeom prst="rect">
            <a:avLst/>
          </a:prstGeom>
          <a:solidFill>
            <a:srgbClr val="C3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4738" y="3820363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8B96A5"/>
                </a:solidFill>
                <a:latin typeface="Consolas"/>
              </a:rPr>
              <a:t>0.0165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231843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8B96A5"/>
                </a:solidFill>
                <a:latin typeface="Consolas"/>
              </a:rPr>
              <a:t>NDCG@10  ·  tail discovery  ·  5,921 players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31152" y="2046427"/>
            <a:ext cx="2173071" cy="11430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50608" y="2201875"/>
            <a:ext cx="1734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300" b="1">
                <a:solidFill>
                  <a:srgbClr val="127652"/>
                </a:solidFill>
                <a:latin typeface="Segoe UI"/>
              </a:rPr>
              <a:t>4.28×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832811"/>
            <a:ext cx="1734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75363"/>
                </a:solidFill>
                <a:latin typeface="Segoe UI"/>
              </a:rPr>
              <a:t>better than the row that ships today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05391" y="2046427"/>
            <a:ext cx="2173071" cy="11430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24847" y="2201875"/>
            <a:ext cx="1734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300" b="1">
                <a:solidFill>
                  <a:srgbClr val="127652"/>
                </a:solidFill>
                <a:latin typeface="Segoe UI"/>
              </a:rPr>
              <a:t>25×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4847" y="2832811"/>
            <a:ext cx="1734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75363"/>
                </a:solidFill>
                <a:latin typeface="Segoe UI"/>
              </a:rPr>
              <a:t>the catalogue — 732 games, not 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31152" y="3363163"/>
            <a:ext cx="4547311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75363"/>
                </a:solidFill>
                <a:latin typeface="Segoe UI"/>
              </a:rPr>
              <a:t>Popularity owns the head. We own the tail.
The recommender is additive — nothing that already worked was removed, so the downside is bounded at screen space, and every row ships behind its own feature flag.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05 / 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8B96A5"/>
                </a:solidFill>
                <a:latin typeface="Consolas"/>
              </a:rPr>
              <a:t>06  /  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10765231" cy="5330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300" b="1">
                <a:solidFill>
                  <a:srgbClr val="141B26"/>
                </a:solidFill>
                <a:latin typeface="Segoe UI"/>
              </a:rPr>
              <a:t>Two stages: propose, then re-rank.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9751"/>
            <a:ext cx="10765231" cy="539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Cheap models generate candidates; a trained model orders them. The second stage is what beats the blend — and it is also what makes every tile explainable.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895551"/>
            <a:ext cx="1371600" cy="28575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2279599"/>
            <a:ext cx="1933590" cy="13716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435047"/>
            <a:ext cx="16409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Item-item CF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736799"/>
            <a:ext cx="164098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Cosine over 23,673 × 3,202, shrinkage, and a popularity correction applied to the similarity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92542" y="2901391"/>
            <a:ext cx="182880" cy="128016"/>
          </a:xfrm>
          <a:prstGeom prst="rightArrow">
            <a:avLst/>
          </a:prstGeom>
          <a:solidFill>
            <a:srgbClr val="B9C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21142" y="2279599"/>
            <a:ext cx="1933590" cy="13716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7446" y="2435047"/>
            <a:ext cx="16409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Day-to-day sequence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7446" y="2736799"/>
            <a:ext cx="164098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Row-normalised transitions over 1.4M ordered pairs, with recency-decayed profiles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00452" y="2901391"/>
            <a:ext cx="182880" cy="128016"/>
          </a:xfrm>
          <a:prstGeom prst="rightArrow">
            <a:avLst/>
          </a:prstGeom>
          <a:solidFill>
            <a:srgbClr val="B9C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9052" y="2279599"/>
            <a:ext cx="1933590" cy="13716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75356" y="2435047"/>
            <a:ext cx="16409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~200 candidates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5356" y="2736799"/>
            <a:ext cx="164098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The union per player, with everything already played removed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08362" y="2901391"/>
            <a:ext cx="182880" cy="128016"/>
          </a:xfrm>
          <a:prstGeom prst="rightArrow">
            <a:avLst/>
          </a:prstGeom>
          <a:solidFill>
            <a:srgbClr val="B9C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36962" y="2279599"/>
            <a:ext cx="1933590" cy="1371600"/>
          </a:xfrm>
          <a:prstGeom prst="rect">
            <a:avLst/>
          </a:prstGeom>
          <a:noFill/>
          <a:ln w="20320">
            <a:solidFill>
              <a:srgbClr val="127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6962" y="2279599"/>
            <a:ext cx="1933590" cy="45720"/>
          </a:xfrm>
          <a:prstGeom prst="rect">
            <a:avLst/>
          </a:prstGeom>
          <a:solidFill>
            <a:srgbClr val="127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3266" y="2435047"/>
            <a:ext cx="16409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27652"/>
                </a:solidFill>
                <a:latin typeface="Segoe UI"/>
              </a:rPr>
              <a:t>Trained re-ranker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3266" y="2736799"/>
            <a:ext cx="164098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LogisticRegression · 14 features · ~200k labelled rows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16272" y="2901391"/>
            <a:ext cx="182880" cy="128016"/>
          </a:xfrm>
          <a:prstGeom prst="rightArrow">
            <a:avLst/>
          </a:prstGeom>
          <a:solidFill>
            <a:srgbClr val="B9C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44872" y="2279599"/>
            <a:ext cx="1933590" cy="1371600"/>
          </a:xfrm>
          <a:prstGeom prst="rect">
            <a:avLst/>
          </a:prstGeom>
          <a:noFill/>
          <a:ln w="20320">
            <a:solidFill>
              <a:srgbClr val="2B6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544872" y="2279599"/>
            <a:ext cx="1933590" cy="45720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1176" y="2435047"/>
            <a:ext cx="16409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2B6FC8"/>
                </a:solidFill>
                <a:latin typeface="Segoe UI"/>
              </a:rPr>
              <a:t>Score → reason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1176" y="2736799"/>
            <a:ext cx="164098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Each score decomposes into weight × value; the largest term is the sentence on the tile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" y="4030675"/>
            <a:ext cx="64008" cy="64008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952951"/>
            <a:ext cx="10564063" cy="647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The features. </a:t>
            </a:r>
            <a:r>
              <a:rPr sz="1200" b="0">
                <a:solidFill>
                  <a:srgbClr val="475363"/>
                </a:solidFill>
                <a:latin typeface="Segoe UI"/>
              </a:rPr>
              <a:t>CF score, sequence score, popularity, provider affinity and recency, type affinity, stake momentum, release age, is-new, jackpot, payout ratio, and three player-level terms. Payout ratio is a similarity feature only — never ranked on, never shown, because advertising “this game pays more” is the inducement the AI Act prohibits.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4824374"/>
            <a:ext cx="64008" cy="64008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746650"/>
            <a:ext cx="10564063" cy="431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The name bridge. </a:t>
            </a:r>
            <a:r>
              <a:rPr sz="1200" b="0">
                <a:solidFill>
                  <a:srgbClr val="475363"/>
                </a:solidFill>
                <a:latin typeface="Segoe UI"/>
              </a:rPr>
              <a:t>2,723 game codes carried no title at all. Co-occurrence on (player, day), constrained to matching providers, recovered 180 of them — 37% of all stake. It independently derived that gpas_3chken_pop is “4 Crazy Cluckers”, from a slug it cannot read.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5402274"/>
            <a:ext cx="64008" cy="64008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324550"/>
            <a:ext cx="10564063" cy="431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Measured honestly. </a:t>
            </a:r>
            <a:r>
              <a:rPr sz="1200" b="0">
                <a:solidFill>
                  <a:srgbClr val="475363"/>
                </a:solidFill>
                <a:latin typeface="Segoe UI"/>
              </a:rPr>
              <a:t>Three-way temporal split — hyperparameters chosen on a validation week, never the test week. Gradient boosting won a player-split validation and then lost the temporal test: exactly the overfitting you cannot see if you only split by user.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06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8B96A5"/>
                </a:solidFill>
                <a:latin typeface="Consolas"/>
              </a:rPr>
              <a:t>07  / 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10765231" cy="5330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300" b="1">
                <a:solidFill>
                  <a:srgbClr val="141B26"/>
                </a:solidFill>
                <a:latin typeface="Segoe UI"/>
              </a:rPr>
              <a:t>Additive middleware on FEG's own stack.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9751"/>
            <a:ext cx="10765231" cy="539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One stateless service reading precomputed artifacts. No GPU, no model API, and no new instrumentation — it reads the warehouse table CA_Player is already exported from.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895551"/>
            <a:ext cx="1371600" cy="28575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2316175"/>
            <a:ext cx="1933590" cy="13716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471623"/>
            <a:ext cx="16409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CA_Player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773375"/>
            <a:ext cx="164098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The export FEG already produces. Daily batch, no new tracking required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92542" y="2937967"/>
            <a:ext cx="182880" cy="128016"/>
          </a:xfrm>
          <a:prstGeom prst="rightArrow">
            <a:avLst/>
          </a:prstGeom>
          <a:solidFill>
            <a:srgbClr val="B9C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21142" y="2316175"/>
            <a:ext cx="1933590" cy="13716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7446" y="2471623"/>
            <a:ext cx="16409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7446" y="2773375"/>
            <a:ext cx="164098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Clean, name-bridge, features, three-way split. Seconds on one core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00452" y="2937967"/>
            <a:ext cx="182880" cy="128016"/>
          </a:xfrm>
          <a:prstGeom prst="rightArrow">
            <a:avLst/>
          </a:prstGeom>
          <a:solidFill>
            <a:srgbClr val="B9C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9052" y="2316175"/>
            <a:ext cx="1933590" cy="13716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75356" y="2471623"/>
            <a:ext cx="16409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artifacts/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5356" y="2773375"/>
            <a:ext cx="164098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18 MB — similarity, sequence, catalogue, ranker. Object storage or the image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08362" y="2937967"/>
            <a:ext cx="182880" cy="128016"/>
          </a:xfrm>
          <a:prstGeom prst="rightArrow">
            <a:avLst/>
          </a:prstGeom>
          <a:solidFill>
            <a:srgbClr val="B9C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36962" y="2316175"/>
            <a:ext cx="1933590" cy="1371600"/>
          </a:xfrm>
          <a:prstGeom prst="rect">
            <a:avLst/>
          </a:prstGeom>
          <a:noFill/>
          <a:ln w="20320">
            <a:solidFill>
              <a:srgbClr val="2B6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6962" y="2316175"/>
            <a:ext cx="1933590" cy="45720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3266" y="2471623"/>
            <a:ext cx="16409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2B6FC8"/>
                </a:solidFill>
                <a:latin typeface="Segoe UI"/>
              </a:rPr>
              <a:t>Service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3266" y="2773375"/>
            <a:ext cx="164098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Python or Java, stateless, horizontally scaled. ~25 ms, no I/O on the request path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16272" y="2937967"/>
            <a:ext cx="182880" cy="128016"/>
          </a:xfrm>
          <a:prstGeom prst="rightArrow">
            <a:avLst/>
          </a:prstGeom>
          <a:solidFill>
            <a:srgbClr val="B9C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44872" y="2316175"/>
            <a:ext cx="1933590" cy="13716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1176" y="2471623"/>
            <a:ext cx="16409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Vue 3 row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1176" y="2773375"/>
            <a:ext cx="164098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One component, one JSON contract. Render the rows you recognise, ignore the rest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998671"/>
            <a:ext cx="10765231" cy="685800"/>
          </a:xfrm>
          <a:prstGeom prst="rect">
            <a:avLst/>
          </a:prstGeom>
          <a:noFill/>
          <a:ln w="20320">
            <a:solidFill>
              <a:srgbClr val="C039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4172407"/>
            <a:ext cx="103263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C03932"/>
                </a:solidFill>
                <a:latin typeface="Segoe UI"/>
              </a:rPr>
              <a:t>The responsible-play gate sits inside the service, before scoring — </a:t>
            </a:r>
            <a:r>
              <a:rPr sz="1300" b="0">
                <a:solidFill>
                  <a:srgbClr val="475363"/>
                </a:solidFill>
                <a:latin typeface="Segoe UI"/>
              </a:rPr>
              <a:t>not in the client, and not behind a flag anyone can switch off.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4867351"/>
            <a:ext cx="1076523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41B26"/>
                </a:solidFill>
                <a:latin typeface="Segoe UI"/>
              </a:rPr>
              <a:t>What FEG actually builds: </a:t>
            </a:r>
            <a:r>
              <a:rPr sz="1300" b="0">
                <a:solidFill>
                  <a:srgbClr val="475363"/>
                </a:solidFill>
                <a:latin typeface="Segoe UI"/>
              </a:rPr>
              <a:t>a Vue row component (3–4 days), a daily batch job (1 day), and a service deployment (2–3 days). Redis and Kafka are only needed below a daily cadence, so neither is on the critical path. Everything else in the repository is done.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07 / 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C03932"/>
                </a:solidFill>
                <a:latin typeface="Consolas"/>
              </a:rPr>
              <a:t>08  /  COMPLIANCE BY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03504"/>
            <a:ext cx="5532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41B26"/>
                </a:solidFill>
                <a:latin typeface="Segoe UI"/>
              </a:rPr>
              <a:t>The gate runs before the model.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7008"/>
            <a:ext cx="5532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475363"/>
                </a:solidFill>
                <a:latin typeface="Segoe UI"/>
              </a:rPr>
              <a:t>Two gates, firing at different points, because the law treats them differently. Both directions are asserted in tests — getting either backwards would be a real compliance failure.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" y="2395728"/>
          <a:ext cx="5532119" cy="14630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46884"/>
                <a:gridCol w="348523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363"/>
                          </a:solidFill>
                          <a:latin typeface="Segoe UI"/>
                        </a:rPr>
                        <a:t>Gate</a:t>
                      </a:r>
                    </a:p>
                  </a:txBody>
                  <a:tcPr marL="109728" marR="109728" marT="45720" marB="45720" anchor="ctr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363"/>
                          </a:solidFill>
                          <a:latin typeface="Segoe UI"/>
                        </a:rPr>
                        <a:t>Where it fires</a:t>
                      </a:r>
                    </a:p>
                  </a:txBody>
                  <a:tcPr marL="109728" marR="109728" marT="45720" marB="45720" anchor="ctr">
                    <a:solidFill>
                      <a:srgbClr val="F3F6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C03932"/>
                          </a:solidFill>
                          <a:latin typeface="Segoe UI"/>
                        </a:rPr>
                        <a:t>Age / ID unverified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41B26"/>
                          </a:solidFill>
                          <a:latin typeface="Segoe UI"/>
                        </a:rPr>
                        <a:t>At sign-in — refused, no session issued at all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C03932"/>
                          </a:solidFill>
                          <a:latin typeface="Segoe UI"/>
                        </a:rPr>
                        <a:t>Self-excluded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41B26"/>
                          </a:solidFill>
                          <a:latin typeface="Segoe UI"/>
                        </a:rPr>
                        <a:t>After sign-in — the account opens, the lobby returns zero rows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3232" y="4224528"/>
            <a:ext cx="5532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Self-exclusion blocks inducements, not account access. </a:t>
            </a:r>
            <a:r>
              <a:rPr sz="1250" b="0">
                <a:solidFill>
                  <a:srgbClr val="475363"/>
                </a:solidFill>
                <a:latin typeface="Segoe UI"/>
              </a:rPr>
              <a:t>The person must still reach their account and support — so they sign in, and get zero recommendations plus the required surfaces. Not filtered afterwards. Never scored.</a:t>
            </a:r>
          </a:p>
        </p:txBody>
      </p:sp>
      <p:pic>
        <p:nvPicPr>
          <p:cNvPr id="7" name="Picture 6" descr="05-self-excluded-zero-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832" y="1051560"/>
            <a:ext cx="5532120" cy="3321603"/>
          </a:xfrm>
          <a:prstGeom prst="rect">
            <a:avLst/>
          </a:prstGeom>
          <a:ln w="12700">
            <a:solidFill>
              <a:srgbClr val="DDE3E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656832" y="4526280"/>
            <a:ext cx="5532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8B96A5"/>
                </a:solidFill>
                <a:latin typeface="Consolas"/>
              </a:rPr>
              <a:t>the self-excluded account, signed in — zero rows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08 /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B87D0A"/>
                </a:solidFill>
                <a:latin typeface="Consolas"/>
              </a:rPr>
              <a:t>09  /  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10765231" cy="5330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300" b="1">
                <a:solidFill>
                  <a:srgbClr val="141B26"/>
                </a:solidFill>
                <a:latin typeface="Segoe UI"/>
              </a:rPr>
              <a:t>€19.6M a fortnight rides on discovery.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9751"/>
            <a:ext cx="10765231" cy="539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13.7% of all stake sits on games a player was trying for the first time — 138,041 first-time adoptions, median €16.16. That entire flow is served today by a search box.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895551"/>
            <a:ext cx="1371600" cy="28575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2334463"/>
            <a:ext cx="3429914" cy="118872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89911"/>
            <a:ext cx="299100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100" b="1">
                <a:solidFill>
                  <a:srgbClr val="B87D0A"/>
                </a:solidFill>
                <a:latin typeface="Segoe UI"/>
              </a:rPr>
              <a:t>€19.6M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120847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75363"/>
                </a:solidFill>
                <a:latin typeface="Segoe UI"/>
              </a:rPr>
              <a:t>on first-time game plays every fortnight — a seventh of all stake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0890" y="2334463"/>
            <a:ext cx="3429914" cy="118872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0346" y="2489911"/>
            <a:ext cx="299100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100" b="1">
                <a:solidFill>
                  <a:srgbClr val="B87D0A"/>
                </a:solidFill>
                <a:latin typeface="Segoe UI"/>
              </a:rPr>
              <a:t>€17.00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0346" y="3120847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75363"/>
                </a:solidFill>
                <a:latin typeface="Segoe UI"/>
              </a:rPr>
              <a:t>median stake on a newly-adopted tail game, against €10.50 on a top-50 game. The tail is not the cheap end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8548" y="2334463"/>
            <a:ext cx="3429914" cy="118872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8004" y="2489911"/>
            <a:ext cx="299100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100" b="1">
                <a:solidFill>
                  <a:srgbClr val="C03932"/>
                </a:solidFill>
                <a:latin typeface="Segoe U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8004" y="3120847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75363"/>
                </a:solidFill>
                <a:latin typeface="Segoe UI"/>
              </a:rPr>
              <a:t>revenue-uplift numbers we are willing to claim. We tested it three ways and it did not survive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3742639"/>
            <a:ext cx="10765231" cy="1600200"/>
          </a:xfrm>
          <a:prstGeom prst="rect">
            <a:avLst/>
          </a:prstGeom>
          <a:solidFill>
            <a:srgbClr val="F3F6FA"/>
          </a:solidFill>
          <a:ln w="17780">
            <a:solidFill>
              <a:srgbClr val="2B6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943807"/>
            <a:ext cx="102531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Matched on activity, adopters retain no better and stake less the next week. </a:t>
            </a:r>
            <a:r>
              <a:rPr sz="1250" b="0">
                <a:solidFill>
                  <a:srgbClr val="475363"/>
                </a:solidFill>
                <a:latin typeface="Segoe UI"/>
              </a:rPr>
              <a:t>So we make no revenue claim. What we argue instead: exploration correlates with lower value </a:t>
            </a:r>
            <a:r>
              <a:rPr sz="1250" b="1">
                <a:solidFill>
                  <a:srgbClr val="141B26"/>
                </a:solidFill>
                <a:latin typeface="Segoe UI"/>
              </a:rPr>
              <a:t>because exploration currently fails</a:t>
            </a:r>
            <a:r>
              <a:rPr sz="1250" b="0">
                <a:solidFill>
                  <a:srgbClr val="475363"/>
                </a:solidFill>
                <a:latin typeface="Segoe UI"/>
              </a:rPr>
              <a:t> — players hunt and don't find. The job is not more exploration; it is making the exploration they already do succeed.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The experiment that settles it: A/B on the lobby, primary metric = first-time adoptions replayed within 7 days. That separates “found something good” from “tried and bounced”.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09 / 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8B96A5"/>
                </a:solidFill>
                <a:latin typeface="Consolas"/>
              </a:rPr>
              <a:t>10  /  THE ONE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10765231" cy="5330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300" b="1">
                <a:solidFill>
                  <a:srgbClr val="141B26"/>
                </a:solidFill>
                <a:latin typeface="Segoe UI"/>
              </a:rPr>
              <a:t>58% of stake is on games we cannot name.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9751"/>
            <a:ext cx="10765231" cy="539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Opaque codes like pop_9f571b7a_egtfeg. They train the model — their co-occurrence is real signal — but they can never be recommended, because a player cannot know what they are being offered.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895551"/>
            <a:ext cx="1371600" cy="28575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2334463"/>
            <a:ext cx="3429914" cy="118872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89911"/>
            <a:ext cx="299100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300" b="1">
                <a:solidFill>
                  <a:srgbClr val="C03932"/>
                </a:solidFill>
                <a:latin typeface="Segoe UI"/>
              </a:rPr>
              <a:t>58%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120847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75363"/>
                </a:solidFill>
                <a:latin typeface="Segoe UI"/>
              </a:rPr>
              <a:t>of all stake, still on games with no title we can show a player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0890" y="2334463"/>
            <a:ext cx="3429914" cy="118872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0346" y="2489911"/>
            <a:ext cx="299100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300" b="1">
                <a:solidFill>
                  <a:srgbClr val="127652"/>
                </a:solidFill>
                <a:latin typeface="Segoe UI"/>
              </a:rPr>
              <a:t>180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0346" y="3120847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75363"/>
                </a:solidFill>
                <a:latin typeface="Segoe UI"/>
              </a:rPr>
              <a:t>codes our name bridge already recovered from behaviour alone — 37% of stake, catalogue up to 479 games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8548" y="2334463"/>
            <a:ext cx="3429914" cy="118872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8004" y="2489911"/>
            <a:ext cx="299100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300" b="1">
                <a:solidFill>
                  <a:srgbClr val="2B6FC8"/>
                </a:solidFill>
                <a:latin typeface="Segoe UI"/>
              </a:rPr>
              <a:t>~9×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8004" y="3120847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75363"/>
                </a:solidFill>
                <a:latin typeface="Segoe UI"/>
              </a:rPr>
              <a:t>the addressable inventory, if FEG shares a game catalogue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3770071"/>
            <a:ext cx="10765231" cy="960120"/>
          </a:xfrm>
          <a:prstGeom prst="rect">
            <a:avLst/>
          </a:prstGeom>
          <a:solidFill>
            <a:srgbClr val="1117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971239"/>
            <a:ext cx="102165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A game catalogue — code → title, category, thumbnail. </a:t>
            </a:r>
            <a:r>
              <a:rPr sz="1400" b="0">
                <a:solidFill>
                  <a:srgbClr val="C9D3E0"/>
                </a:solidFill>
                <a:latin typeface="Segoe UI"/>
              </a:rPr>
              <a:t>It costs FEG a database export. It is the single highest-value thing we could be given, and the only limit here we cannot engineer around.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10 / 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8B96A5"/>
                </a:solidFill>
                <a:latin typeface="Consolas"/>
              </a:rPr>
              <a:t>11  /  WHERE IT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10765231" cy="5330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300" b="1">
                <a:solidFill>
                  <a:srgbClr val="141B26"/>
                </a:solidFill>
                <a:latin typeface="Segoe UI"/>
              </a:rPr>
              <a:t>The lobby should know who is looking at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9751"/>
            <a:ext cx="10765231" cy="539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Today it doesn't. We measured what personalisation can and cannot do here, kept the row that already worked, and added the 732 games it could never reach.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895551"/>
            <a:ext cx="1371600" cy="28575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2316175"/>
            <a:ext cx="5208879" cy="224028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2480767"/>
            <a:ext cx="4733391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>
                <a:solidFill>
                  <a:srgbClr val="127652"/>
                </a:solidFill>
                <a:latin typeface="Segoe UI"/>
              </a:rPr>
              <a:t>Shipped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Pipeline → model → API → lobby, end to end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A real login journey, 12 accounts from real histories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~25 ms per lobby. No GPU, no model fit at request time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54 tests, green on a clean clone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Eight documents — including the evaluation with the loss in it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9583" y="2316175"/>
            <a:ext cx="5208879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07327" y="2480767"/>
            <a:ext cx="4733391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>
                <a:solidFill>
                  <a:srgbClr val="B87D0A"/>
                </a:solidFill>
                <a:latin typeface="Segoe UI"/>
              </a:rPr>
              <a:t>Not built — and we say so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No Vue SDK yet — the dashboard is plain HTML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No Kafka/Redis — the pipeline is a daily batch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Prototype auth: hashed and signed, but no rate limiting or MFA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No session-level sequence model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No online experiment — every number here is offline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4748479"/>
            <a:ext cx="10765231" cy="127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4913071"/>
            <a:ext cx="107652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8B96A5"/>
                </a:solidFill>
                <a:latin typeface="Consolas"/>
              </a:rPr>
              <a:t>Team Q'Makers  ·  feg-hackathon-2026-QMakers  ·  FEG Innovation Challenge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11 / 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